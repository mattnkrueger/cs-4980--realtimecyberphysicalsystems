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0"/>
  </p:notesMasterIdLst>
  <p:handoutMasterIdLst>
    <p:handoutMasterId r:id="rId51"/>
  </p:handoutMasterIdLst>
  <p:sldIdLst>
    <p:sldId id="258" r:id="rId5"/>
    <p:sldId id="373" r:id="rId6"/>
    <p:sldId id="293" r:id="rId7"/>
    <p:sldId id="289" r:id="rId8"/>
    <p:sldId id="337" r:id="rId9"/>
    <p:sldId id="345" r:id="rId10"/>
    <p:sldId id="339" r:id="rId11"/>
    <p:sldId id="340" r:id="rId12"/>
    <p:sldId id="302" r:id="rId13"/>
    <p:sldId id="342" r:id="rId14"/>
    <p:sldId id="374" r:id="rId15"/>
    <p:sldId id="346" r:id="rId16"/>
    <p:sldId id="343" r:id="rId17"/>
    <p:sldId id="344" r:id="rId18"/>
    <p:sldId id="349" r:id="rId19"/>
    <p:sldId id="348" r:id="rId20"/>
    <p:sldId id="359" r:id="rId21"/>
    <p:sldId id="358" r:id="rId22"/>
    <p:sldId id="352" r:id="rId23"/>
    <p:sldId id="353" r:id="rId24"/>
    <p:sldId id="354" r:id="rId25"/>
    <p:sldId id="355" r:id="rId26"/>
    <p:sldId id="356" r:id="rId27"/>
    <p:sldId id="357" r:id="rId28"/>
    <p:sldId id="360" r:id="rId29"/>
    <p:sldId id="362" r:id="rId30"/>
    <p:sldId id="361" r:id="rId31"/>
    <p:sldId id="364" r:id="rId32"/>
    <p:sldId id="365" r:id="rId33"/>
    <p:sldId id="366" r:id="rId34"/>
    <p:sldId id="375" r:id="rId35"/>
    <p:sldId id="368" r:id="rId36"/>
    <p:sldId id="369" r:id="rId37"/>
    <p:sldId id="372" r:id="rId38"/>
    <p:sldId id="376" r:id="rId39"/>
    <p:sldId id="379" r:id="rId40"/>
    <p:sldId id="383" r:id="rId41"/>
    <p:sldId id="381" r:id="rId42"/>
    <p:sldId id="384" r:id="rId43"/>
    <p:sldId id="385" r:id="rId44"/>
    <p:sldId id="386" r:id="rId45"/>
    <p:sldId id="387" r:id="rId46"/>
    <p:sldId id="388" r:id="rId47"/>
    <p:sldId id="330" r:id="rId48"/>
    <p:sldId id="32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472A"/>
    <a:srgbClr val="006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29" autoAdjust="0"/>
    <p:restoredTop sz="85169" autoAdjust="0"/>
  </p:normalViewPr>
  <p:slideViewPr>
    <p:cSldViewPr snapToGrid="0" snapToObjects="1">
      <p:cViewPr>
        <p:scale>
          <a:sx n="120" d="100"/>
          <a:sy n="120" d="100"/>
        </p:scale>
        <p:origin x="144" y="456"/>
      </p:cViewPr>
      <p:guideLst/>
    </p:cSldViewPr>
  </p:slideViewPr>
  <p:outlineViewPr>
    <p:cViewPr>
      <p:scale>
        <a:sx n="33" d="100"/>
        <a:sy n="33" d="100"/>
      </p:scale>
      <p:origin x="0" y="-312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1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77051E-B811-D949-830F-55D35BA79C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EC375-152E-3F4A-8C1A-308E3DFABC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30E4C-56B7-2443-B370-610F8D1BCD9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D90D4-C48B-C647-BA8A-B43CFA99A4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0E78B-91EF-F148-8F7B-2AEC53251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D0152-5968-C24B-9EC0-2DFF74304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4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17:52:45.1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17:52:55.066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2FD1-B169-9B41-A890-0ECD81C3476C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943EA-69D9-7E49-97CD-A49926F617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2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030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0E76-987F-D338-DE7C-AA670A9C4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A2AE0-ED2A-AF11-1643-656F60EBA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8A942-F981-DC21-D747-D4C4103EC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F5F97-5591-4890-B6D6-20911B724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254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002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00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17867-CA16-F5E4-D892-894D8A19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F007F-C9EA-66D6-2267-7D6EADF46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1E1CC-D23C-79B3-0748-912CA512A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83EBA-D9AD-A855-C7B5-F60919BD2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22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C7B3-D9B0-9816-BDAE-CFFF08AC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EC8DE-887E-1179-C2DC-1D9A95B8F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997FB-CE93-AB65-878C-F9AAE9671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E13D-EB13-9E63-0161-732CF4ABE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145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2BF0-48E7-19D7-8BEF-1F19344D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71A3A-4E6A-1BBB-C3E4-BFE12322F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25593-117D-F30C-06BA-E93E45D17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Expirment</a:t>
            </a:r>
            <a:r>
              <a:rPr lang="en-US" dirty="0"/>
              <a:t> performed in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Abusayeed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Saifullah,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Dolvara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Gunatilaka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Paras Tiwari, Mo Sha,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Chenyang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Lu, Bo Li,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Chengjie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Wu, and Yixin Chen. Schedulability analysis under graph routing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wirelesshart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networks.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Systems Symposium, 2015 IEEE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pages 165–174. IEEE, 2015.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77426-7342-7194-DE17-64F7BE623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91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2301-72C3-2A8B-0FED-0B78256D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B22AA-30F4-B901-62BB-00B5CA8BE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674DE-BD2F-7229-32BE-F2A218640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A6091-FE89-209D-35C2-4F927DEE2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manager is limited to network organization and relinquished of scheduling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72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9B97-158C-C10B-875E-61B270CB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773E3-5463-5CC4-92E1-43B68BAB8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DA9CD-BC0F-0965-5B26-1331F856D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C3414-14F4-0546-F64A-F94565E69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64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B7AC-2B62-01AD-6378-4D835ABD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741FB-01F5-9CC3-FB21-99EB009C3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B4639-50F3-8F52-CF14-E5BA23AF4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09B9E-0AAD-C1EB-1217-9E3A72767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699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FCDA-4FB1-E216-28A3-8DF1B49A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E9A2D-3F05-EEEE-1FAC-AF407F40F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40BCE-5E24-FFD9-AAEA-3886879DE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order:</a:t>
            </a:r>
          </a:p>
          <a:p>
            <a:r>
              <a:rPr lang="en-US" dirty="0"/>
              <a:t>NM – disseminated to all nodes</a:t>
            </a:r>
          </a:p>
          <a:p>
            <a:r>
              <a:rPr lang="en-US" dirty="0"/>
              <a:t>CA – each node knows which channel to listen on and which channels are used to reach neighbors</a:t>
            </a:r>
          </a:p>
          <a:p>
            <a:r>
              <a:rPr lang="en-US" dirty="0"/>
              <a:t>TWA – each node knows when it is allowed to schedule transmissions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9B1BA-5373-4FEB-220F-DF3657C9D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117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2264-4276-9F2D-6DA0-7122616C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1BF62-98D0-E9EF-AC07-BC7EF211A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9A9B0-C275-8982-FBAE-18B8AB3FF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minimize such conflicts, each node first performs a receiver based channel allocation based on vertex coloring as the one used in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[26]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OUTCOME: Each node is assigned a fixed channel to receive messages; its neighbors use this channel to send messages to it.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**Each node knows only its incoming and outgoing communication and interference edges</a:t>
            </a:r>
          </a:p>
          <a:p>
            <a:endParaRPr lang="en-US" dirty="0"/>
          </a:p>
          <a:p>
            <a:r>
              <a:rPr lang="en-US" dirty="0"/>
              <a:t>RID protocol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95500-6051-3371-42C6-5ACC9F0F8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24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53035-FA11-E70B-1EF8-2E7850D8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14154-B59F-716B-9C2C-F3FCA9982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C0946-76DA-897E-B667-08D1EFBDD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MAINTAINED: spatial reuse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DistributedHART</a:t>
            </a:r>
            <a:r>
              <a:rPr lang="en-US" dirty="0"/>
              <a:t> allows spatial reuse where many non-conflicting nodes will have the same time window and transmit simultaneously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OUTCOME: each node is now aware of its neighbors time window.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==&gt; knows when to expect a packet and when to sleep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MINIMIZE total number of unique windows to minimize the end-to-end latency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78ECD-BD1B-7B14-E8F0-547A286BE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29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496B-C82A-CE2B-A6A2-100AD152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82E78-B92E-AC40-CAA1-1E1033820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9FF78-CEAF-8963-CD3C-BF926C4E3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MINIMIZE total number of unique windows to minimize the end-to-end latency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assigning a longer time window to a node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en-US" sz="1200" b="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may reduce the delays on flows passing through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en-US" sz="1200" b="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may increase the delay for other flows (due to the increase in 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trade-off between uniform and non-uniform window assignment is out of the scope of this paper and will be studied in the future.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8F642-DA5B-B46B-22AE-9E50C5250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562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E9C8-AD8E-DCD2-3DFE-6813130E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5DE2F-273C-63DF-FC09-249F10EC3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22D5B-0E02-0CE4-13A8-6A951DF46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 assigns priorities to flows according to their deadlines (fixed)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EDF assigns priorities dynamically to packets according to their absolute deadlines (dynamic)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and diagnostic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superframes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run in parallel with the highest priority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6E0FD-1B9A-C907-85ED-7C16D7C49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213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4AB3-B3AA-66EF-9B87-F96B7EBD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E2BBF-6BAC-B215-0147-4D92F4F44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D46AF-C268-8BA4-ED64-374DFC314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 assigns priorities to flows according to their deadlines (fixed)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EDF assigns priorities dynamically to packets according to their absolute deadlines (dynamic)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and diagnostic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superframes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run in parallel with the highest priority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910F5-757D-9E63-4FD0-A02DF2E43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35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2F0C-BC71-098D-0278-89574D7A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9300B-25B1-82D2-8E3F-2B5DFDEA4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E5897-B7E0-D6CE-5509-2ABAA386E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C3024-1CB0-60ED-65F6-C290C3CE2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920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14D11-6A52-2C19-B0B2-6B817CF4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A06D8-DD41-304D-E98C-7F8B32288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D3799-57BB-98A8-4DF0-AEDDBC985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EAE2-D19E-9458-9874-0AF8989BE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611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589EE-515B-6DE3-1429-1C6D4DA3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69198-BB38-EC39-436E-A80801EB5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9DCCA-D863-03CA-6E8D-B81E27213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A316E-81E1-7359-E0CC-E1457924B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20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BB6F-2351-8CB6-F21F-175CDDDE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CB877-8683-149C-72D8-A5711CF05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7DC50-702E-369C-2540-E735C0D3B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8A12D-94BD-DC8A-9119-7CEC96A24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42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7B92-2AF3-7731-CEAF-95F1D5BB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AAA15-525A-6910-B600-AFBF65B8A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407E7-087E-92EB-DDF0-C48AD8497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E9365-D53E-ABCC-3B2E-D8D65BCFD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562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DFC2-CA90-4832-3B4A-DA0864BE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40E2B-5C9A-5273-4454-C43F6AA2F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AE392-9CB9-5779-2C2B-4B532C402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7984B-5B25-1542-DAC9-618E6FAEF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847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57C2-DD61-13F0-0190-268D1093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B9D04-EDB2-F412-966F-3FDF4EDF3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C4E61-02B8-4AFE-D7F0-B20CB460A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83D3E-D8EA-F18B-9A43-9301C3FAB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433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2CBF-BBD6-80A5-BACA-E5959353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5D16C-712E-BEC8-B8D7-2DE27B1EF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31BF1-32F2-4E36-4816-363FA4336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a time slots as a shared slot, many nodes need to transmit to the same node simultaneously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backoff desynchronizes simultaneous starts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 is when there is no ACK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67F01-C71B-491C-DBBF-ECE40290B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139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A972-322A-FCEB-8F45-A81592AF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90198-F7E5-4BA2-BF6A-D14D512E6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4BF87-2500-4EE8-CF66-4FCF978A2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P11 fails on time window 1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v1 can use the time slots in time window 2 even though it lies outside of transmission window v1</a:t>
            </a:r>
          </a:p>
          <a:p>
            <a:pPr marL="171450" indent="-171450">
              <a:buFontTx/>
              <a:buChar char="-"/>
            </a:pPr>
            <a:r>
              <a:rPr lang="en-US" dirty="0"/>
              <a:t>Shared slot logic is event driven; not opportunistic scanning.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Considers reusing a slot when there is a dedicated transmission failure.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DFBFD-555E-FE07-9471-5981A0C5D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73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24CE-4287-EAF0-BB7F-27E67C3B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00D41-4A32-FFA7-59A5-A42B455D8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693FF-3D26-5C00-6AB4-B9DDFB977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a time slots as a shared slot, many nodes need to transmit to the same node simultaneously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backoff desynchronizes simultaneous starts 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Algorithmic! Not due to redundancy. Redundancy is in place such that any broken/unresponsive node can be bypassed!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Carrier sense multiple access with collision avoidance (CSMA/CA)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8FA5D-5060-609F-1997-1CA7BCC24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6167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FFC5-5598-FC11-459F-7651B1EA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B83BA-F618-6A6A-3B9F-A97FD75CA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BE279-A976-72CC-3C24-AD11CB352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a time slots as a shared slot, many nodes need to transmit to the same node simultaneously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backoff desynchronizes simultaneous starts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 is when there is no ACK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 that the correct (packet in its dedicated transmission window) is transmitted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78977-D6B4-F4F2-D331-BDFFEBEED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0603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A9251-9F9C-E666-DBB1-6488EC51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34A85-C680-7CFE-C21F-9CA62379C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CE53F-9089-A876-7743-407E818ED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offset):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-Two transmitters, both at 0 dBm power.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-Varied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 transmissions.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-Measured Packet Reception Rate (PRR).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-Found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gives reliable capture effect.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Tx power difference: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-Fixed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One transmitter kept at 0 dBm, the other’s power reduced gradually.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Found 3 dB power difference yields strong capture effect.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 under distance variation: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-Used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3 dB power difference.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Varied distance between transmitters and receiver.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Sent 1500 packets per node, 14-byte payloads, every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channel 15.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Repeated 10 iterations; results stable across runs.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DE570-344C-9C69-3E1C-C4F80A3CB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8735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C8AF-E19C-840E-6E20-FAE7F503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6CCDC-17B1-3EE5-0544-B04115310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F2350-F2AF-B0ED-3296-504D2A0F4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0E8F0-E300-8FE3-CD78-85B4ED16D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24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237A-1520-52B7-6455-49AAAC3F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C2DB2-7CB1-3995-6CE2-4F9A4A2A4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5BBAE-61F6-3B50-AA64-18D15449A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897BB-385B-D9F9-A699-EFBFA3447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788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2F72-6645-CCBB-59F3-C8729675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96E0A-26D6-B668-8554-131B805BE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3903D-BD29-D8DE-1307-AF47FBE9A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 = probability of 2 dedicated transmissions of link k =&gt; 1  - (1-pi^k)^2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Pi^k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probability of successful transmission for a link k in the set of links on the primary path Ei of a graph route of Fi 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don’t consider the secondary paths because the probability is very small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neglibible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AEF7B-1BC5-45E1-C2DE-0535D95D3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7397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6C025-B310-DEB5-3303-7E0343B9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8FE46-806E-71B0-4D1A-7672C61E9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4EDD5-1D87-9723-01F8-53788EC20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time window repeats after every time epoch or 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 ×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slots, a packet waits for 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 ×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time slots for every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time units delay.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packet also experiences a delay of (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−1)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time slots between its arrival and first transmission window.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E8174-DDFB-B6A7-18ED-7D7714522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8522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AD21-7E37-8A0C-2A5D-1F99F07B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C58E5-C5DA-C3F8-6860-A0BA52C33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4BAE8-190B-714D-83E5-0ED15520F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an online scheduling algorithm where a packet experiences a different delay at each node on the path.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Thus, we express the total delay (experienced by a flow) as the sum of delays experienced at each node on the primary path.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nodes adopt real-time scheduling policies like EDF or DM to schedule packets autonomously.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we can leverage on existing processor demand bound analysis (or response time analysis) of EDF (or DM) algorithms to determine the worst-case delay of flows.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section, we show the worst case delay computation for flows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EDF local scheduling using processor demand function proposed in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[40]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similar approach can be used for DM to obtain the end-to-end delay bounds.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9E917-6AF0-A84F-B48A-4FA97899D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041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8829-D926-F678-38C0-DBBFBD1E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44F69-4C59-F18E-0680-C1A049014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2DA2D-89EF-4B50-7C05-1CEC4B244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45707-E430-804C-978D-A2CDAC33A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495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0ABE2-B917-9B39-9DBD-BC1AA49F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61A04-9FF8-E255-4998-F01C3C1B5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8AF45-5388-A3E9-63A4-DFD7EF13E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other setup not mentioned (Flooding Time Synchronization Protocol FTSP)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AD237-5614-51B8-52AB-51C71994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9037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1EF8-2F25-0DE7-7F2E-34287E7E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908A9-417C-808B-94CE-50CB24AD9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F8AC7-1185-D15D-EFC7-BA9AFE714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consumption in centralized proportional to hyper-period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 bad.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75% less memory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Enery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consumption at a node is dependent of the length of the schedule  bad.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95% less energy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Convergence dependent on hyper-period, with a step increase  bad.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95% less convergence time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Performs poorly due to lack of global information, but still competitive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6BBB5-9E59-43DF-EEA1-BFA1E7324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285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D07D-7D90-A242-D32B-811CEBF2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8F6AC-5C7F-752A-B1DA-18F2DADDA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6A14D-0061-98F8-E578-01EBE52C6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 and DiGS are local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CF078-6E1B-C6CA-9A98-266CE6001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7935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F2D4-28CD-A42A-F44D-C5E85DC0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4CF09-5BDE-890C-E27D-8179B9FA1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9B163-3F21-2327-6521-CB8C6EBA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566B8-F1BF-5044-0DA9-5048DC5A1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64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5678-503F-590A-552F-BD9FEDF1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0D875-DD0D-C0AF-9684-6B1E92161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E077E-FA1D-4964-15B8-B50B200E0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231B9-374A-FDFA-A8EB-4D9F5EB61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1877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57A6-97F1-1D15-804B-6833B93E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4DC9-A661-B1E4-9BC7-C3013E7A0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8E5C2-69D7-6CDB-B902-5BD330D7B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19566-D038-6089-A42C-25D392BA5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589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88E8A-9239-73CC-C824-C83B5DF0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9656A-288D-C41A-CBE4-064F35B06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D6D66-A163-D7E9-8026-FD59029DE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38DD6-A854-800D-106B-666FB9536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053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3BC5C-B64B-F675-FAF4-F05D3B59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416FC-472B-D2D6-BA9E-8D7F1F742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51497-9567-F535-BA0F-30981C919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 and DiGS are local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08783-5DBC-1F51-5656-7B84CB0CD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94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1035436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</a:t>
            </a:r>
            <a:br>
              <a:rPr lang="en-US" dirty="0"/>
            </a:br>
            <a:r>
              <a:rPr lang="en-US" dirty="0"/>
              <a:t>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1035436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148794"/>
            <a:ext cx="1035436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A096FDD2-3609-3C49-9ED5-616F9E36D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0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914400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914400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087150"/>
            <a:ext cx="914400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916622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685527-7A8C-3647-9D96-6D076FA7A7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8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431224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14C79AA-0B96-2A43-86A1-A71A1D4C8E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7101AB8-54F7-4A4E-9611-F4F2ECFBD1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DD4F96-5BFE-3049-B4E0-9CDD4F5C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9CB936-90E7-D144-B9DC-7CF3F98E2F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1599"/>
            <a:ext cx="2687038" cy="1276343"/>
          </a:xfrm>
          <a:prstGeom prst="rect">
            <a:avLst/>
          </a:prstGeom>
        </p:spPr>
      </p:pic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941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561760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3A797-13D4-A243-B1AE-4498B36D47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4DA5E7-4B71-0543-8E46-EC2A81EAE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BCADCB-4DBB-9C43-A696-780C0577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3F5E00-2329-6246-A2BB-7BCD46F83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0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6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721272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7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8FB54BE8-0526-614C-A06E-8C6258999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509282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00">
          <p15:clr>
            <a:srgbClr val="FBAE40"/>
          </p15:clr>
        </p15:guide>
        <p15:guide id="4" pos="70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17923A-4119-CF48-9F2D-05B0A69EBA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24488-0ADE-1843-91C1-1CA371373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661" y="2215171"/>
            <a:ext cx="4368798" cy="646331"/>
          </a:xfrm>
          <a:solidFill>
            <a:schemeClr val="accent1"/>
          </a:solidFill>
        </p:spPr>
        <p:txBody>
          <a:bodyPr wrap="square" lIns="91440" tIns="91440" bIns="0">
            <a:spAutoFit/>
          </a:bodyPr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38807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070F21D-F194-034E-812B-69D1C6CD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A13FBC-A4AA-9B4F-8E9B-12CD6600150E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C1D3A-9762-7F4D-AB5C-A3F0114B67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6" name="Picture 15" descr="The University of Iowa">
            <a:extLst>
              <a:ext uri="{FF2B5EF4-FFF2-40B4-BE49-F238E27FC236}">
                <a16:creationId xmlns:a16="http://schemas.microsoft.com/office/drawing/2014/main" id="{7148CCDA-64E4-6A4E-A6A7-D2AB55159A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FAE079D-23CF-2543-B543-90A5EB0D2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833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240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9116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 userDrawn="1">
          <p15:clr>
            <a:srgbClr val="FBAE40"/>
          </p15:clr>
        </p15:guide>
        <p15:guide id="2" pos="600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89509"/>
            <a:ext cx="10287000" cy="1331865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 </a:t>
            </a:r>
            <a:br>
              <a:rPr lang="en-US" dirty="0"/>
            </a:br>
            <a:r>
              <a:rPr lang="en-US" dirty="0"/>
              <a:t>that runs to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50741"/>
            <a:ext cx="10287000" cy="3892859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5AAAF-3BA6-4445-BF32-09164447961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0AA5F87C-9826-7441-9CF2-6F364BF7D9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678EF36-A6E8-DB4E-8C3A-B3624ECEE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7963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2D2F673-8F81-4982-AA66-35312BF3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4800219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664346"/>
            <a:ext cx="4800224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86758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8B99253-B000-1442-A7D2-EB536C15CBCB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8" name="Picture 17" descr="The University of Iowa">
            <a:extLst>
              <a:ext uri="{FF2B5EF4-FFF2-40B4-BE49-F238E27FC236}">
                <a16:creationId xmlns:a16="http://schemas.microsoft.com/office/drawing/2014/main" id="{A96F9427-B9C2-6F44-ADD6-28635EDF4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5D918E3-A228-4F47-B892-288E22CD6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942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1686756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2674396"/>
            <a:ext cx="2973372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168675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2674396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4143A-0CC6-6041-BD38-4C994DA8E0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3" name="Picture 22" descr="The University of Iowa">
            <a:extLst>
              <a:ext uri="{FF2B5EF4-FFF2-40B4-BE49-F238E27FC236}">
                <a16:creationId xmlns:a16="http://schemas.microsoft.com/office/drawing/2014/main" id="{529638AC-0ED3-DE46-BC83-28B1D845EE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642FB62D-41EB-7A41-B0D2-60C8BB6A3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51774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697" userDrawn="1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52425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37133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37134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06107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6108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6741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875080" y="167670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875081" y="2664346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DF11BA-BD6E-E14D-A115-587308DBF4A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178B6A3E-B578-0F40-9695-2E975D126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253C989-F49D-8D4D-BFD5-ECCB6E59B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2614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183508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850484"/>
            <a:ext cx="1835088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301186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CA73044-ABA5-4A68-81D4-75723F104CF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29003" y="1686758"/>
            <a:ext cx="162430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69FEDBA-37CD-4D7E-A729-6821E598E67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2900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66192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96DFA0C-E450-4893-8C79-6243F56979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28122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9D9C274-DDDD-4725-8A7B-113147DD78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122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3190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93742B6-D009-4AB4-BBDC-24522E901BB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34904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0357619-5F6A-4C63-90C3-32B37CE73C9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34904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1841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35F8812-D495-478D-828C-D8CF0753EEB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401266" y="1686758"/>
            <a:ext cx="183508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38FA747-D085-4909-A6FE-575A5C65242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401267" y="2850484"/>
            <a:ext cx="183823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4AB6F8-D05F-8E40-A637-083D1274FB35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8" name="Picture 37" descr="The University of Iowa">
            <a:extLst>
              <a:ext uri="{FF2B5EF4-FFF2-40B4-BE49-F238E27FC236}">
                <a16:creationId xmlns:a16="http://schemas.microsoft.com/office/drawing/2014/main" id="{03F28A08-B979-7F4D-A857-AE155CAB0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48092FCE-E544-874D-A440-7B68904C3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3937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1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83F529D-C880-45A0-81D8-FD2CC04E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2" y="3291760"/>
            <a:ext cx="10288587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10288586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4" y="4753992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E76717-4761-EC4B-BDB1-C130638E59C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40242CE7-09BD-8143-AE27-4BF193790A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F415A2A-5C4A-BE45-8CAF-820EC97BE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40878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A9A771B-4FFF-4EBF-A07A-0D6292AC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3" y="3291760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5" y="475399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23041F-D604-4688-B75A-90D37AFDDB0E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7B91F83-8428-4E5A-9C88-17829B687B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83696" y="168851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B1D581-6D4C-4716-AE96-DBB4F953B95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83697" y="212176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79BA4B0-A083-4A1F-9D3B-A041B59E7C2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83698" y="3293514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FDD4A4D-E1FC-4E83-A8AA-A324B6B0E44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83699" y="3726766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E8E7D5C-ACCB-47E6-A3F5-6F3F51A0F37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83700" y="4755746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59D9DC4-BB53-4441-9B74-84922B36994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83701" y="5188998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74845D-2BF0-2740-9880-8D2B0EBB22B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0BB6734F-670C-234F-9B83-4953BF83C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695749F-B8A1-694A-8E96-E3DE4B0E9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35829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1EE2C71-E6FD-4A5F-BC00-7290049C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2760956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FC9698A-599E-4227-BA19-18EFBBF3E0D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4094" y="2904080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B470A9-B821-4D01-8FB4-31DF303421A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4096" y="3337333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3792244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C507C81-6817-4069-BC84-0CE4705AE16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54098" y="3970621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4103820-8C7A-497C-BCBA-2CFEB4549C8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54100" y="4403874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1CE437-6AD8-4170-8DC8-66894266CE06}"/>
              </a:ext>
            </a:extLst>
          </p:cNvPr>
          <p:cNvCxnSpPr/>
          <p:nvPr userDrawn="1"/>
        </p:nvCxnSpPr>
        <p:spPr>
          <a:xfrm>
            <a:off x="952506" y="488567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C02F409-DCF5-4241-BB5E-6E37CC8D351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4096" y="5089029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AC426E8-7005-475F-BC32-B5F0BA7A8A4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4098" y="5522281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22804C-AFDD-4E8C-BFDC-31326A2127FA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6342B0E-1F8B-4D4C-ABA7-E43BC2B3F4A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67495" y="1688232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CF3285B-83DB-4917-9F24-EC0C964DE403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67497" y="2121484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88D8B1-0044-4EC5-B4CD-DB1095F378A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69089" y="2905554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F6100E2-DAE8-4111-AF37-8909AA389FC1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69091" y="3338807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0B1E9EC-56B4-4514-B189-24BD47F549F3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469093" y="3972095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685484E-408B-4771-9259-BAAC2A6E60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469095" y="4405348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EE05AF1-1486-45F2-B87D-2AE555B8D1C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69091" y="5090503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2C4B0E5-3C7E-4BC2-AA92-4156C26C91F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469093" y="5523755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480C56-313A-5C4D-A02B-5C10621A506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58CA1799-4AEA-D247-8458-F8440E403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FFD2AE71-6126-9A49-BF5D-602677416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685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947D672-DDE7-4F36-B79C-4245C5D1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238480"/>
            <a:ext cx="4800219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B9F7B-CC85-4936-BE2A-DF6B8BF46018}"/>
              </a:ext>
            </a:extLst>
          </p:cNvPr>
          <p:cNvCxnSpPr/>
          <p:nvPr userDrawn="1"/>
        </p:nvCxnSpPr>
        <p:spPr>
          <a:xfrm>
            <a:off x="949325" y="3790765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FA8ABE-0B6C-4930-94A9-A2BB4166E51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8052" y="4209907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7E91DB8-4856-4AED-8362-60627F681E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58053" y="4761629"/>
            <a:ext cx="4800219" cy="11819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9384"/>
            <a:ext cx="0" cy="42727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228428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6BD4A33-C7CC-4380-A2BB-ECC6C2FB722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39276" y="4199855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CD0BB64-6643-42CE-AFE7-372305F2123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39277" y="4751577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D606F0-071A-A842-B316-9BEBD143AC3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8" name="Picture 27" descr="The University of Iowa">
            <a:extLst>
              <a:ext uri="{FF2B5EF4-FFF2-40B4-BE49-F238E27FC236}">
                <a16:creationId xmlns:a16="http://schemas.microsoft.com/office/drawing/2014/main" id="{9AAD4B2F-0082-B749-BE09-2EC20A6C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D920E71-4E45-E74F-B01A-DC16C3B80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48418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2400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tat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9080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52" name="Picture Placeholder 50">
            <a:extLst>
              <a:ext uri="{FF2B5EF4-FFF2-40B4-BE49-F238E27FC236}">
                <a16:creationId xmlns:a16="http://schemas.microsoft.com/office/drawing/2014/main" id="{8D984633-F962-1848-A009-619CB821163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7173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DE3AB4-3020-8D45-86B7-592F12CB716B}"/>
              </a:ext>
            </a:extLst>
          </p:cNvPr>
          <p:cNvCxnSpPr>
            <a:cxnSpLocks/>
          </p:cNvCxnSpPr>
          <p:nvPr userDrawn="1"/>
        </p:nvCxnSpPr>
        <p:spPr>
          <a:xfrm>
            <a:off x="896513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4E94AD-16D9-BE4C-8C57-CFA6654E1B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9080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4293C0-60B2-3341-9C38-86DF7ACA51D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82471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5" name="Picture Placeholder 50">
            <a:extLst>
              <a:ext uri="{FF2B5EF4-FFF2-40B4-BE49-F238E27FC236}">
                <a16:creationId xmlns:a16="http://schemas.microsoft.com/office/drawing/2014/main" id="{3ED87A8B-0573-474F-94C0-2F7E344853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80564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99B91B-7CDD-284B-99CF-8408146B2C0D}"/>
              </a:ext>
            </a:extLst>
          </p:cNvPr>
          <p:cNvCxnSpPr>
            <a:cxnSpLocks/>
          </p:cNvCxnSpPr>
          <p:nvPr userDrawn="1"/>
        </p:nvCxnSpPr>
        <p:spPr>
          <a:xfrm>
            <a:off x="4539904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B67D17-F456-FC43-9C41-9344D6EEB07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582471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0F6E28A-AB38-A64F-9481-C9F0437BFEA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25863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9" name="Picture Placeholder 50">
            <a:extLst>
              <a:ext uri="{FF2B5EF4-FFF2-40B4-BE49-F238E27FC236}">
                <a16:creationId xmlns:a16="http://schemas.microsoft.com/office/drawing/2014/main" id="{106DB928-4AE1-4E4B-9A4C-6062FC247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23956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F7D2B0-E449-FD45-9789-FC204088E97C}"/>
              </a:ext>
            </a:extLst>
          </p:cNvPr>
          <p:cNvCxnSpPr>
            <a:cxnSpLocks/>
          </p:cNvCxnSpPr>
          <p:nvPr userDrawn="1"/>
        </p:nvCxnSpPr>
        <p:spPr>
          <a:xfrm>
            <a:off x="8183296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6FE37F4-1DCF-2D40-845F-6C10AC016C2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25863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1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2738-1D29-40DE-AACF-F60CD708E892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1ADFA24-184F-46B9-B1D0-3FBB044F3673}"/>
              </a:ext>
            </a:extLst>
          </p:cNvPr>
          <p:cNvSpPr/>
          <p:nvPr userDrawn="1"/>
        </p:nvSpPr>
        <p:spPr>
          <a:xfrm>
            <a:off x="166474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306F30-B3C1-E74C-B18C-7075DB0761D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53910" y="2337468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4078664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F9D861-0550-4AC8-BB96-094DAF60B7F4}"/>
              </a:ext>
            </a:extLst>
          </p:cNvPr>
          <p:cNvSpPr/>
          <p:nvPr userDrawn="1"/>
        </p:nvSpPr>
        <p:spPr>
          <a:xfrm>
            <a:off x="5231950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382C3D7-6E45-864C-A5B5-39762336A4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500171" y="2310547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4078664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01DA23-83F7-4662-BC02-2666717C53B4}"/>
              </a:ext>
            </a:extLst>
          </p:cNvPr>
          <p:cNvSpPr/>
          <p:nvPr userDrawn="1"/>
        </p:nvSpPr>
        <p:spPr>
          <a:xfrm>
            <a:off x="8775763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E1CEA20-24A4-8C45-B5A6-CE111F714F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6432" y="2299135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4078663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5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B9DD2E6-4011-470E-85A1-9331B2E2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260812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0A1A4191-73C5-A24C-B85A-D6F8FC57252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40727" y="231168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2500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935830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D7A0C8CB-AE00-AE4E-8B06-C3CDA2E8A6B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1796" y="228086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7F2CE8-9E91-4C86-99AB-686A9C81041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627518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651392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ED777B6-C788-B840-ACC3-FD8949E42A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793844" y="2309972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C06D7C8-7D2D-4A80-B5B8-174F5056AA0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05617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9188946" y="2045132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04C4E3A7-AB8A-6243-BBFD-8A433C7847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73607" y="2311684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FC2F9F8-450A-4433-BAFC-DCD0001FAF1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880634" y="4073057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78BB7-B3A6-0D4A-A743-C8950F9817A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6D319038-0896-5540-A405-0F93F52CC9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F5779A1-5C1A-D949-93A6-EFB401BFC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389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7E2EA4D-EFA8-4B7C-9585-ADB07DA2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175438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E2F4087-739F-1B43-B022-92BCEDD29A2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8972" y="2403497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75438" y="407866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222122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090A73C4-9F43-6142-BBC5-1C887BE310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2864" y="2384080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B9DF875-9EAF-4928-8E91-6599CCEAADE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225991" y="4080927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5305996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121B32AC-29FE-5347-BC89-E1D12CFE91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88241" y="2367425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CAF8AD6-3AD0-422C-B775-D4163897266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285614" y="409557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7346820" y="2120050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035F86CE-4040-2C49-984A-EDA41DCC41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83252" y="2382067"/>
            <a:ext cx="1121725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322EF39-6BE8-4D2B-B814-5743037B71F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325607" y="4098102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182B05-A7F1-450F-AE61-51425BEF3AA6}"/>
              </a:ext>
            </a:extLst>
          </p:cNvPr>
          <p:cNvSpPr/>
          <p:nvPr userDrawn="1"/>
        </p:nvSpPr>
        <p:spPr>
          <a:xfrm>
            <a:off x="9434872" y="2133924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B4205C-10C8-FE4A-8B1C-0B1A629E22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2000" y="2389427"/>
            <a:ext cx="1100333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D14923E-7CAE-49B7-9668-7B538ECFDC5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419080" y="4107460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66093-3200-6440-8AB2-9242D398F84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D664CA64-A0A9-F34D-BDC5-9ABCDE7A54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B50283A-D398-E048-BDA3-92DD544A4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C29AABA-668F-408C-81ED-9A30ED0A4B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325" y="1684461"/>
            <a:ext cx="317023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891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4383805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C3EF38F-8A6A-4B49-A1A2-467E7797A5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02447" y="1677611"/>
            <a:ext cx="2987311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3537679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4372568"/>
            <a:ext cx="2973372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DDD8951C-5A36-4D07-AB7C-0F597B3D797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72642" y="1684461"/>
            <a:ext cx="316685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3537679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4372568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DAB539-1500-4641-B587-77CADD88349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425DB221-2568-9A44-ABC3-1ED0E0B41E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E30D721-4805-D344-A3E0-90A8F1D56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64682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697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E21D4365-BAA8-4F76-87AD-1A328301E2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9325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1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44118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EB10E167-B94B-AD40-958C-D9E0F8F9DF4A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593362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03DF098-BB37-5848-9388-750D29EFC657}"/>
              </a:ext>
            </a:extLst>
          </p:cNvPr>
          <p:cNvSpPr>
            <a:spLocks noGrp="1"/>
          </p:cNvSpPr>
          <p:nvPr userDrawn="1">
            <p:ph idx="24" hasCustomPrompt="1"/>
          </p:nvPr>
        </p:nvSpPr>
        <p:spPr>
          <a:xfrm>
            <a:off x="3630386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FE4DEF0-41BC-4548-B7BA-1E5B0231AFFD}"/>
              </a:ext>
            </a:extLst>
          </p:cNvPr>
          <p:cNvSpPr>
            <a:spLocks noGrp="1"/>
          </p:cNvSpPr>
          <p:nvPr userDrawn="1">
            <p:ph idx="25" hasCustomPrompt="1"/>
          </p:nvPr>
        </p:nvSpPr>
        <p:spPr>
          <a:xfrm>
            <a:off x="3630387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574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864CDDAA-23B4-C842-845C-7640D95F2B65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6237399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EB8CCE3-3756-5947-84B2-DFCA00A013F6}"/>
              </a:ext>
            </a:extLst>
          </p:cNvPr>
          <p:cNvSpPr>
            <a:spLocks noGrp="1"/>
          </p:cNvSpPr>
          <p:nvPr userDrawn="1">
            <p:ph idx="27" hasCustomPrompt="1"/>
          </p:nvPr>
        </p:nvSpPr>
        <p:spPr>
          <a:xfrm>
            <a:off x="6242957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9C56F7D-4836-1E4F-BD4C-CB150E12E098}"/>
              </a:ext>
            </a:extLst>
          </p:cNvPr>
          <p:cNvSpPr>
            <a:spLocks noGrp="1"/>
          </p:cNvSpPr>
          <p:nvPr userDrawn="1">
            <p:ph idx="28" hasCustomPrompt="1"/>
          </p:nvPr>
        </p:nvSpPr>
        <p:spPr>
          <a:xfrm>
            <a:off x="6242958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7503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6A5C640-1D0E-4428-AC28-148AE98A7B34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8881435" y="1680693"/>
            <a:ext cx="2349365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 userDrawn="1">
            <p:ph idx="15" hasCustomPrompt="1"/>
          </p:nvPr>
        </p:nvSpPr>
        <p:spPr>
          <a:xfrm>
            <a:off x="8875080" y="354891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 userDrawn="1">
            <p:ph idx="16" hasCustomPrompt="1"/>
          </p:nvPr>
        </p:nvSpPr>
        <p:spPr>
          <a:xfrm>
            <a:off x="8875081" y="4362520"/>
            <a:ext cx="2358867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720753-9BFD-2840-9C93-FF72942ED6E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2" name="Picture 31" descr="The University of Iowa">
            <a:extLst>
              <a:ext uri="{FF2B5EF4-FFF2-40B4-BE49-F238E27FC236}">
                <a16:creationId xmlns:a16="http://schemas.microsoft.com/office/drawing/2014/main" id="{710BB67D-293B-374F-89FC-5F2EBF9F2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EE9B966-22C9-0D4A-8DF7-FFA7CF9C9DD8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7002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14F11A61-EE32-4596-8BBC-0626131F1E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24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29247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10B80E7E-3ECA-A84C-BBC2-DF9FD6DED4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0534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AB9C78E2-4679-F844-BB37-D2E07B542CA3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0534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F3EA205-7109-BC44-BA2C-7704780449E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0534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36631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EF24A51-2D82-AA40-8405-8CFEC6F5CB5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870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0D707E7-5635-444F-BB41-10E2268CC09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870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340EF3F-9B6C-B54B-94AD-7275543213B0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51870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484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4D703A3B-87F3-AE45-90D2-795F9DA8857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66213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5C95157B-C7FC-864F-A9C2-08E02E26EE0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266215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1E05108-E0DC-6947-A186-EA5436079AA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266216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2603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90B3032-DDF8-0446-8BB7-81565519E03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4106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24287DA-FEAD-6E4A-83EC-B59516E2386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410701" y="3545060"/>
            <a:ext cx="1826629" cy="67511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FC143B3-231A-2B46-ABBF-7F6B6BBF4596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94107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4E17D8-CAFF-0E47-97EF-4D4BC59FFC70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43" name="Picture 42" descr="The University of Iowa">
            <a:extLst>
              <a:ext uri="{FF2B5EF4-FFF2-40B4-BE49-F238E27FC236}">
                <a16:creationId xmlns:a16="http://schemas.microsoft.com/office/drawing/2014/main" id="{924E35CA-EA2E-084A-B4D2-736FEA8C0D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D752B61A-80FF-1049-8A33-5614EE9DC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35456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0">
            <a:extLst>
              <a:ext uri="{FF2B5EF4-FFF2-40B4-BE49-F238E27FC236}">
                <a16:creationId xmlns:a16="http://schemas.microsoft.com/office/drawing/2014/main" id="{2BA8F287-92C7-4FFD-A7E9-45864F8E9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9325" y="498296"/>
            <a:ext cx="5260975" cy="89611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31F03A-71CF-475D-8A3C-99FC106D73E8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404DB8-B6AC-4389-8E6E-A115840D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5257801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2EEDE3-0B18-E049-BE23-974E50C729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71534" y="0"/>
            <a:ext cx="5029200" cy="638951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20F7CB-393D-BF45-B52D-542FDDEFCAF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9CE5618D-3613-E04D-A815-ED9A2C5AA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5C85E8-314E-3E45-BB26-1A95C606F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255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12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1056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524483D-CFE3-E34D-BB74-CEDD54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365125"/>
            <a:ext cx="5254505" cy="133186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8F420-DDD1-5E4A-9513-EAE252D759FE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D1D7B4-E242-C142-8F5F-F3301CC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962386"/>
            <a:ext cx="5266450" cy="3981214"/>
          </a:xfrm>
        </p:spPr>
        <p:txBody>
          <a:bodyPr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buClr>
                <a:schemeClr val="tx2"/>
              </a:buCl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4FCC643-718F-7645-8F8D-0BFC94D0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59502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1C31617-CC11-4C42-B6D0-164DF6AFBF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13630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5CE386-BEFE-FE49-A675-D93BEDF680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9502" y="3260862"/>
            <a:ext cx="5032499" cy="312864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icon to add picture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4DFA0-3257-B044-87EF-16154359E2FC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9" name="Picture 18" descr="The University of Iowa">
            <a:extLst>
              <a:ext uri="{FF2B5EF4-FFF2-40B4-BE49-F238E27FC236}">
                <a16:creationId xmlns:a16="http://schemas.microsoft.com/office/drawing/2014/main" id="{87382191-DF4D-7341-915C-9C1044535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21405B1-B61E-0943-909C-EFA16B5EE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38072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26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240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4273"/>
            <a:ext cx="10290175" cy="869089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49325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F1F65E7-1CB7-3D42-91A9-88DA4E58EB0E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49325" y="1570038"/>
            <a:ext cx="10290175" cy="4114800"/>
          </a:xfrm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6D074-0631-F846-A2A3-4A39FEAEFDD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F53BBB5F-6629-C742-91EE-40B5B8BC1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AC09A7-82B4-6B47-A4FB-CA6800EAF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4276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533B8E-DBF3-664D-901D-8735DE775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8383" y="3029213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tx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262A30-5EEC-5549-B428-7E5B11A5D7A7}"/>
              </a:ext>
            </a:extLst>
          </p:cNvPr>
          <p:cNvGrpSpPr/>
          <p:nvPr userDrawn="1"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99B573-1E8F-3547-9D64-50A2EC630F1F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68F32139-4BAE-F54C-8358-EF5839C5813E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B1807D8-E6B4-C743-A4EC-22D5E0479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D36833F-B2C7-1C49-9947-A60C1ACB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38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-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47420D0-6FF1-9C4A-B953-EA4EEABBA3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5016" y="3029213"/>
            <a:ext cx="2693773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accent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25728D-FF50-4FF2-AC2E-B13A3D44D5B9}"/>
              </a:ext>
            </a:extLst>
          </p:cNvPr>
          <p:cNvGrpSpPr/>
          <p:nvPr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8A6E0DE-15E0-485B-8083-6D1BB965B9B6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4EFEE4-DF1C-4FDF-ABC6-804BF8FA2941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The University of Iowa">
            <a:extLst>
              <a:ext uri="{FF2B5EF4-FFF2-40B4-BE49-F238E27FC236}">
                <a16:creationId xmlns:a16="http://schemas.microsoft.com/office/drawing/2014/main" id="{6179B039-C5FC-F04C-AB21-BEF980B032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0E4C36A-C453-EE4B-A1E5-D1232C361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4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993FB4-4336-2048-A6A4-FA306EBBE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85842"/>
            <a:ext cx="10515600" cy="89611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 Header</a:t>
            </a:r>
          </a:p>
        </p:txBody>
      </p:sp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675842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532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3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006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87" r:id="rId2"/>
    <p:sldLayoutId id="2147483688" r:id="rId3"/>
    <p:sldLayoutId id="2147483684" r:id="rId4"/>
    <p:sldLayoutId id="2147483663" r:id="rId5"/>
    <p:sldLayoutId id="2147483686" r:id="rId6"/>
    <p:sldLayoutId id="2147483690" r:id="rId7"/>
    <p:sldLayoutId id="2147483682" r:id="rId8"/>
    <p:sldLayoutId id="2147483650" r:id="rId9"/>
    <p:sldLayoutId id="2147483662" r:id="rId10"/>
    <p:sldLayoutId id="2147483670" r:id="rId11"/>
    <p:sldLayoutId id="2147483667" r:id="rId12"/>
    <p:sldLayoutId id="2147483668" r:id="rId13"/>
    <p:sldLayoutId id="2147483674" r:id="rId14"/>
    <p:sldLayoutId id="2147483675" r:id="rId15"/>
    <p:sldLayoutId id="2147483677" r:id="rId16"/>
    <p:sldLayoutId id="2147483676" r:id="rId17"/>
    <p:sldLayoutId id="2147483672" r:id="rId18"/>
    <p:sldLayoutId id="2147483692" r:id="rId19"/>
    <p:sldLayoutId id="2147483669" r:id="rId20"/>
    <p:sldLayoutId id="2147483671" r:id="rId21"/>
    <p:sldLayoutId id="2147483673" r:id="rId22"/>
    <p:sldLayoutId id="2147483679" r:id="rId23"/>
    <p:sldLayoutId id="2147483680" r:id="rId24"/>
    <p:sldLayoutId id="2147483681" r:id="rId25"/>
    <p:sldLayoutId id="2147483654" r:id="rId26"/>
    <p:sldLayoutId id="2147483655" r:id="rId27"/>
    <p:sldLayoutId id="2147483665" r:id="rId28"/>
    <p:sldLayoutId id="2147483664" r:id="rId29"/>
    <p:sldLayoutId id="2147483689" r:id="rId30"/>
    <p:sldLayoutId id="2147483693" r:id="rId31"/>
    <p:sldLayoutId id="2147483691" r:id="rId3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Roboto" panose="02000000000000000000" pitchFamily="2" charset="0"/>
        <a:buChar char="–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2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xspacetoday.com/step-towards-sustainability-from-industry-4-0-to-industry-5-0/" TargetMode="External"/><Relationship Id="rId2" Type="http://schemas.openxmlformats.org/officeDocument/2006/relationships/hyperlink" Target="https://doi.org/10.1109/RTAS.2019.00026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0B23-7308-1745-A1A9-A5522BA49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725" y="2677626"/>
            <a:ext cx="10354360" cy="1843238"/>
          </a:xfrm>
        </p:spPr>
        <p:txBody>
          <a:bodyPr>
            <a:normAutofit/>
          </a:bodyPr>
          <a:lstStyle/>
          <a:p>
            <a:r>
              <a:rPr lang="en-US" sz="4000" dirty="0" err="1"/>
              <a:t>DistributedHART</a:t>
            </a:r>
            <a:r>
              <a:rPr lang="en-US" sz="4000" dirty="0"/>
              <a:t>:</a:t>
            </a:r>
            <a:br>
              <a:rPr lang="en-US" sz="4000" dirty="0"/>
            </a:br>
            <a:r>
              <a:rPr lang="en-US" sz="4000" dirty="0"/>
              <a:t>A Distributed Real-Time Scheduling System for </a:t>
            </a:r>
            <a:r>
              <a:rPr lang="en-US" sz="4000" dirty="0" err="1"/>
              <a:t>WirelessHART</a:t>
            </a:r>
            <a:r>
              <a:rPr lang="en-US" sz="4000" dirty="0"/>
              <a:t> Networks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DA0161C-D166-6E4C-8069-E1FBFE0BE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725" y="4709626"/>
            <a:ext cx="10354360" cy="407460"/>
          </a:xfrm>
        </p:spPr>
        <p:txBody>
          <a:bodyPr>
            <a:normAutofit/>
          </a:bodyPr>
          <a:lstStyle/>
          <a:p>
            <a:r>
              <a:rPr lang="en-US" dirty="0"/>
              <a:t>Matt Krueger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C5EE2B8-026E-D04B-8925-60FA6F76C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4725" y="5148794"/>
            <a:ext cx="10354360" cy="463108"/>
          </a:xfrm>
        </p:spPr>
        <p:txBody>
          <a:bodyPr/>
          <a:lstStyle/>
          <a:p>
            <a:r>
              <a:rPr lang="en-US" dirty="0"/>
              <a:t>Oct. 15,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EB04-6AB2-DD4F-B560-E3674C11A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1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626E-EB22-274E-85A8-016C0039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79D4-4938-6FFB-3DF0-C94BD8D3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251" y="2913884"/>
            <a:ext cx="4218097" cy="896116"/>
          </a:xfrm>
        </p:spPr>
        <p:txBody>
          <a:bodyPr anchor="ctr">
            <a:noAutofit/>
          </a:bodyPr>
          <a:lstStyle/>
          <a:p>
            <a:r>
              <a:rPr lang="en-US" sz="6000" dirty="0"/>
              <a:t>Introduction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B7FB009-F115-B7CC-5710-7C82D3BB9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159AEEE-DD92-8895-4C22-5AEEFB6DAF94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92455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5FE2-F3E9-4586-9F41-8D056DBF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5260975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4A47CA-010F-465A-9DEE-DA8DD4F73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6406768" cy="4256843"/>
          </a:xfrm>
        </p:spPr>
        <p:txBody>
          <a:bodyPr>
            <a:normAutofit/>
          </a:bodyPr>
          <a:lstStyle/>
          <a:p>
            <a:r>
              <a:rPr lang="en-US" sz="2400" dirty="0"/>
              <a:t>2019 IEEE Real-Time and Embedded Technology and Applications Symposium (RTAS)</a:t>
            </a:r>
          </a:p>
          <a:p>
            <a:r>
              <a:rPr lang="en-US" sz="2400" dirty="0"/>
              <a:t>Wayne State University, Detroit, MI, USA</a:t>
            </a:r>
          </a:p>
          <a:p>
            <a:r>
              <a:rPr lang="en-US" sz="2400" dirty="0"/>
              <a:t>Missouri University of Science and Technology</a:t>
            </a:r>
            <a:r>
              <a:rPr lang="en-US" sz="2400" b="1" dirty="0"/>
              <a:t>, </a:t>
            </a:r>
            <a:r>
              <a:rPr lang="en-US" sz="2400" dirty="0"/>
              <a:t>Rolla, MO, USA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CF64F-B498-A4CA-C566-0D5C8258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536"/>
          <a:stretch>
            <a:fillRect/>
          </a:stretch>
        </p:blipFill>
        <p:spPr>
          <a:xfrm>
            <a:off x="7171534" y="10"/>
            <a:ext cx="5029200" cy="6389501"/>
          </a:xfrm>
          <a:prstGeom prst="rect">
            <a:avLst/>
          </a:prstGeom>
          <a:noFill/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176EBFB-13CA-404D-8131-753B18BF3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59711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CBB2-F610-40B4-A124-363EF63E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Industry 4.0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8BCB527-2259-FA40-8DB3-056BA3C1B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54237-6AE5-5FBA-505D-15E2BBA488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29" t="5044" r="6431" b="8980"/>
          <a:stretch>
            <a:fillRect/>
          </a:stretch>
        </p:blipFill>
        <p:spPr>
          <a:xfrm>
            <a:off x="1848147" y="1307543"/>
            <a:ext cx="8495706" cy="43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7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2572-9582-C775-A27C-0CC6868B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3CE08-9E44-86C5-79A2-CC1054C8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Industry 4.0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CD988E1-0D68-AAC4-6979-47A2B4C85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6B3AA-843F-DCA0-CCCD-696F0C172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29" t="5044" r="6431" b="9733"/>
          <a:stretch>
            <a:fillRect/>
          </a:stretch>
        </p:blipFill>
        <p:spPr>
          <a:xfrm>
            <a:off x="1848147" y="1307543"/>
            <a:ext cx="8495706" cy="43319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F9C927-8154-8617-3119-8E17C09A908A}"/>
              </a:ext>
            </a:extLst>
          </p:cNvPr>
          <p:cNvSpPr txBox="1"/>
          <p:nvPr/>
        </p:nvSpPr>
        <p:spPr>
          <a:xfrm>
            <a:off x="10068769" y="3035805"/>
            <a:ext cx="1939955" cy="64633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DistributedHART</a:t>
            </a:r>
            <a:endParaRPr lang="en-US" dirty="0"/>
          </a:p>
          <a:p>
            <a:r>
              <a:rPr lang="en-US" dirty="0"/>
              <a:t>(this paper) 2019</a:t>
            </a:r>
          </a:p>
        </p:txBody>
      </p:sp>
      <p:pic>
        <p:nvPicPr>
          <p:cNvPr id="1026" name="Picture 2" descr="Wireless Gateways | Emerson US">
            <a:extLst>
              <a:ext uri="{FF2B5EF4-FFF2-40B4-BE49-F238E27FC236}">
                <a16:creationId xmlns:a16="http://schemas.microsoft.com/office/drawing/2014/main" id="{067D83A2-B40D-6A58-857E-3BC709B3A8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33"/>
          <a:stretch>
            <a:fillRect/>
          </a:stretch>
        </p:blipFill>
        <p:spPr bwMode="auto">
          <a:xfrm>
            <a:off x="8439150" y="4835624"/>
            <a:ext cx="2222822" cy="869089"/>
          </a:xfrm>
          <a:prstGeom prst="rect">
            <a:avLst/>
          </a:prstGeom>
          <a:noFill/>
          <a:ln w="19050">
            <a:solidFill>
              <a:srgbClr val="E7122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FCB0E-FB4A-A7FD-11A4-B344D8D9E696}"/>
              </a:ext>
            </a:extLst>
          </p:cNvPr>
          <p:cNvSpPr txBox="1"/>
          <p:nvPr/>
        </p:nvSpPr>
        <p:spPr>
          <a:xfrm>
            <a:off x="8439149" y="5270168"/>
            <a:ext cx="2222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Introduced ~ 2007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344911-4170-FA7C-7971-02585209CE8B}"/>
              </a:ext>
            </a:extLst>
          </p:cNvPr>
          <p:cNvCxnSpPr>
            <a:stCxn id="1026" idx="0"/>
          </p:cNvCxnSpPr>
          <p:nvPr/>
        </p:nvCxnSpPr>
        <p:spPr>
          <a:xfrm flipH="1" flipV="1">
            <a:off x="8036190" y="2872519"/>
            <a:ext cx="1514371" cy="1963105"/>
          </a:xfrm>
          <a:prstGeom prst="straightConnector1">
            <a:avLst/>
          </a:prstGeom>
          <a:ln w="127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7BC5E3-778D-9F1A-788B-C534BEAF4F62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108978" y="2503740"/>
            <a:ext cx="1929769" cy="532065"/>
          </a:xfrm>
          <a:prstGeom prst="straightConnector1">
            <a:avLst/>
          </a:prstGeom>
          <a:ln w="12700">
            <a:solidFill>
              <a:srgbClr val="92D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D57008D-076A-5C01-1AEE-D4BEBC774D03}"/>
                  </a:ext>
                </a:extLst>
              </p14:cNvPr>
              <p14:cNvContentPartPr/>
              <p14:nvPr/>
            </p14:nvContentPartPr>
            <p14:xfrm>
              <a:off x="8036190" y="2872519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D57008D-076A-5C01-1AEE-D4BEBC774D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73190" y="280951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854FB14-F478-F604-E87F-1785DB6B261A}"/>
                  </a:ext>
                </a:extLst>
              </p14:cNvPr>
              <p14:cNvContentPartPr/>
              <p14:nvPr/>
            </p14:nvContentPartPr>
            <p14:xfrm>
              <a:off x="9108978" y="250374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854FB14-F478-F604-E87F-1785DB6B26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45978" y="24407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793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B1E20-35AC-B59B-B8EE-E53C6BD0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2FEF-B619-1F2B-ACBA-19583B9B7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7524824" cy="896116"/>
          </a:xfrm>
        </p:spPr>
        <p:txBody>
          <a:bodyPr anchor="ctr">
            <a:noAutofit/>
          </a:bodyPr>
          <a:lstStyle/>
          <a:p>
            <a:r>
              <a:rPr lang="en-US" dirty="0"/>
              <a:t>Motivation of </a:t>
            </a:r>
            <a:r>
              <a:rPr lang="en-US" dirty="0" err="1"/>
              <a:t>DistributedHART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62627C-6E18-C75F-1E66-83B502BDE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8" y="1686757"/>
            <a:ext cx="8212767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Address </a:t>
            </a:r>
            <a:r>
              <a:rPr lang="en-US" sz="2400" b="1" dirty="0" err="1"/>
              <a:t>WirelessHART’s</a:t>
            </a:r>
            <a:r>
              <a:rPr lang="en-US" sz="2400" b="1" dirty="0"/>
              <a:t> limitations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Industry 4.0 suitability</a:t>
            </a:r>
          </a:p>
          <a:p>
            <a:pPr lvl="1"/>
            <a:r>
              <a:rPr lang="en-US" sz="2000" dirty="0"/>
              <a:t>Network utilization</a:t>
            </a:r>
          </a:p>
          <a:p>
            <a:pPr lvl="1"/>
            <a:r>
              <a:rPr lang="en-US" sz="2000" dirty="0"/>
              <a:t>Energy intensive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Maintain</a:t>
            </a:r>
            <a:r>
              <a:rPr lang="en-US" sz="2400" dirty="0"/>
              <a:t> </a:t>
            </a:r>
            <a:r>
              <a:rPr lang="en-US" sz="2400" b="1" dirty="0"/>
              <a:t>Performance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Scalable</a:t>
            </a:r>
          </a:p>
          <a:p>
            <a:pPr lvl="1"/>
            <a:r>
              <a:rPr lang="en-US" sz="2000" dirty="0"/>
              <a:t>Adaptive </a:t>
            </a:r>
          </a:p>
          <a:p>
            <a:pPr lvl="1"/>
            <a:r>
              <a:rPr lang="en-US" sz="2000" dirty="0"/>
              <a:t>Reliable</a:t>
            </a:r>
          </a:p>
          <a:p>
            <a:pPr lvl="1"/>
            <a:r>
              <a:rPr lang="en-US" sz="2000" dirty="0"/>
              <a:t>Real-time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B49FEF8-9780-DC30-C719-AA2A15F5E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22878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F2CA-FB20-191B-D761-60FA456E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0C1A-E499-C011-DF36-8E2CFA7ED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9194135" cy="896116"/>
          </a:xfrm>
        </p:spPr>
        <p:txBody>
          <a:bodyPr anchor="ctr">
            <a:noAutofit/>
          </a:bodyPr>
          <a:lstStyle/>
          <a:p>
            <a:r>
              <a:rPr lang="en-US" dirty="0"/>
              <a:t>Limitation 1: </a:t>
            </a:r>
            <a:r>
              <a:rPr lang="en-US" b="0" dirty="0"/>
              <a:t>High Level of Redundancy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D33F65-C890-4877-69BA-39232910F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6406768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Multiple paths </a:t>
            </a:r>
          </a:p>
          <a:p>
            <a:pPr lvl="1"/>
            <a:r>
              <a:rPr lang="en-US" sz="2000" dirty="0"/>
              <a:t>Exponential scalability </a:t>
            </a:r>
          </a:p>
          <a:p>
            <a:pPr lvl="1"/>
            <a:r>
              <a:rPr lang="en-US" sz="2000" dirty="0"/>
              <a:t>Underutilization under periodic conditions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BD472A"/>
                </a:solidFill>
              </a:rPr>
              <a:t>70% </a:t>
            </a:r>
            <a:r>
              <a:rPr lang="en-US" sz="2400" b="1" dirty="0"/>
              <a:t>unused slots </a:t>
            </a:r>
            <a:r>
              <a:rPr lang="en-US" sz="2400" b="1" baseline="30000" dirty="0"/>
              <a:t>[27]</a:t>
            </a:r>
          </a:p>
          <a:p>
            <a:pPr lvl="1"/>
            <a:r>
              <a:rPr lang="en-US" sz="2000" dirty="0"/>
              <a:t>30 flows </a:t>
            </a:r>
          </a:p>
          <a:p>
            <a:pPr lvl="1"/>
            <a:r>
              <a:rPr lang="en-US" sz="2000" dirty="0"/>
              <a:t>69 nodes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D69BFBB-3C39-3E6C-18E2-78BC068DA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6ABF39-5354-AACD-C065-2EEC5D0EAC04}"/>
              </a:ext>
            </a:extLst>
          </p:cNvPr>
          <p:cNvGrpSpPr/>
          <p:nvPr/>
        </p:nvGrpSpPr>
        <p:grpSpPr>
          <a:xfrm>
            <a:off x="8412055" y="1563695"/>
            <a:ext cx="3462807" cy="4379905"/>
            <a:chOff x="8412055" y="1563695"/>
            <a:chExt cx="3462807" cy="43799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1FBA95-7295-1648-A373-54E4AE640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5597" y="1563695"/>
              <a:ext cx="2965155" cy="39535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30B92A-D499-5C70-39C1-25C5DAA4CCB3}"/>
                </a:ext>
              </a:extLst>
            </p:cNvPr>
            <p:cNvSpPr txBox="1"/>
            <p:nvPr/>
          </p:nvSpPr>
          <p:spPr>
            <a:xfrm>
              <a:off x="8412055" y="5681990"/>
              <a:ext cx="34628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Figure 1: An example of scheduling in </a:t>
              </a:r>
              <a:r>
                <a:rPr lang="en-US" sz="1100" dirty="0" err="1"/>
                <a:t>WirelessHART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2941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7E78-D22F-17C6-2ABB-D6A78EEB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B8AD-B283-CC4F-04A9-3047625E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59871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Limitation 2: </a:t>
            </a:r>
            <a:r>
              <a:rPr lang="en-US" b="0" dirty="0"/>
              <a:t>Global Dissemination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91501C-5F6E-01C9-F710-9CEE2A5D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6406768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Exponential Growth</a:t>
            </a:r>
          </a:p>
          <a:p>
            <a:pPr lvl="1"/>
            <a:r>
              <a:rPr lang="en-US" sz="2000" dirty="0"/>
              <a:t>Hyper-period</a:t>
            </a:r>
          </a:p>
          <a:p>
            <a:pPr lvl="1"/>
            <a:r>
              <a:rPr lang="en-US" sz="2000" dirty="0"/>
              <a:t>Schedule length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Non-Adaptive</a:t>
            </a:r>
          </a:p>
          <a:p>
            <a:pPr lvl="1"/>
            <a:r>
              <a:rPr lang="en-US" sz="2000" dirty="0"/>
              <a:t>Full re-dissemination</a:t>
            </a:r>
          </a:p>
          <a:p>
            <a:pPr lvl="1"/>
            <a:r>
              <a:rPr lang="en-US" sz="2000" dirty="0"/>
              <a:t>High cost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563A1B8-006F-5F8F-13C9-EEC3E37A2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46D7E4-2692-882D-5B66-9BFF941B24A4}"/>
              </a:ext>
            </a:extLst>
          </p:cNvPr>
          <p:cNvGrpSpPr/>
          <p:nvPr/>
        </p:nvGrpSpPr>
        <p:grpSpPr>
          <a:xfrm>
            <a:off x="8412055" y="1563695"/>
            <a:ext cx="3462807" cy="4379905"/>
            <a:chOff x="8412055" y="1563695"/>
            <a:chExt cx="3462807" cy="43799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80D872-17A5-9AC3-9CFC-78C6A08F9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5597" y="1563695"/>
              <a:ext cx="2965155" cy="39535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975C1E-BB64-156D-8C45-A31413939B3D}"/>
                </a:ext>
              </a:extLst>
            </p:cNvPr>
            <p:cNvSpPr txBox="1"/>
            <p:nvPr/>
          </p:nvSpPr>
          <p:spPr>
            <a:xfrm>
              <a:off x="8412055" y="5681990"/>
              <a:ext cx="34628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Figure 1: An example of scheduling in </a:t>
              </a:r>
              <a:r>
                <a:rPr lang="en-US" sz="1100" dirty="0" err="1"/>
                <a:t>WirelessHART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1190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D97FB5-4FAC-4C6D-BC0D-9BACECA5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Proposed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576879-39D0-4859-8247-F41B88982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686758"/>
            <a:ext cx="4800224" cy="754602"/>
          </a:xfrm>
        </p:spPr>
        <p:txBody>
          <a:bodyPr/>
          <a:lstStyle/>
          <a:p>
            <a:r>
              <a:rPr lang="en-US" dirty="0" err="1"/>
              <a:t>WirelessHART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2674A-AE4E-4543-B397-E9A47E0EAF7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501" y="2674398"/>
            <a:ext cx="4800219" cy="3279254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802.15.4 </a:t>
            </a:r>
          </a:p>
          <a:p>
            <a:pPr marL="285750" indent="-285750">
              <a:buFontTx/>
              <a:buChar char="-"/>
            </a:pPr>
            <a:r>
              <a:rPr lang="en-US" dirty="0"/>
              <a:t>16 channels </a:t>
            </a:r>
          </a:p>
          <a:p>
            <a:pPr marL="285750" indent="-285750">
              <a:buFontTx/>
              <a:buChar char="-"/>
            </a:pPr>
            <a:r>
              <a:rPr lang="en-US" dirty="0"/>
              <a:t>TDMA MAC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Multi-Hop</a:t>
            </a:r>
          </a:p>
          <a:p>
            <a:pPr marL="285750" indent="-285750">
              <a:buFontTx/>
              <a:buChar char="-"/>
            </a:pPr>
            <a:r>
              <a:rPr lang="en-US" dirty="0"/>
              <a:t>Graph Routing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Offline centralized scheduling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750A3-F7A6-49F3-859D-63EFBB79972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33724" y="1676706"/>
            <a:ext cx="4800224" cy="754602"/>
          </a:xfrm>
        </p:spPr>
        <p:txBody>
          <a:bodyPr/>
          <a:lstStyle/>
          <a:p>
            <a:r>
              <a:rPr lang="en-US" dirty="0" err="1"/>
              <a:t>DistributedHART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3468E5-7945-4A48-9609-298588DA834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433725" y="2664346"/>
            <a:ext cx="4800224" cy="327925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802.15.4</a:t>
            </a:r>
          </a:p>
          <a:p>
            <a:pPr marL="285750" indent="-285750">
              <a:buFontTx/>
              <a:buChar char="-"/>
            </a:pPr>
            <a:r>
              <a:rPr lang="en-US" dirty="0"/>
              <a:t>16 channels</a:t>
            </a:r>
          </a:p>
          <a:p>
            <a:pPr marL="285750" indent="-285750">
              <a:buFontTx/>
              <a:buChar char="-"/>
            </a:pPr>
            <a:r>
              <a:rPr lang="en-US" dirty="0"/>
              <a:t>TDMA MAC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Multi-Hop</a:t>
            </a:r>
          </a:p>
          <a:p>
            <a:pPr marL="285750" indent="-285750">
              <a:buFontTx/>
              <a:buChar char="-"/>
            </a:pPr>
            <a:r>
              <a:rPr lang="en-US" dirty="0"/>
              <a:t>Graph Routing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Online decentralized scheduling</a:t>
            </a:r>
          </a:p>
          <a:p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B0CE25D-E0EC-B146-ADE8-443AC0554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7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7717-5C75-83CD-E546-A6BD0D84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F5F4-3CD8-FC22-440E-F5624BA2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141512" cy="896116"/>
          </a:xfrm>
        </p:spPr>
        <p:txBody>
          <a:bodyPr anchor="ctr">
            <a:noAutofit/>
          </a:bodyPr>
          <a:lstStyle/>
          <a:p>
            <a:r>
              <a:rPr lang="en-US" dirty="0"/>
              <a:t>Outcomes of Paper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715ECC-F8EE-12D2-2B7A-CE60141FA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8" y="1686757"/>
            <a:ext cx="8574274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Addressed </a:t>
            </a:r>
            <a:r>
              <a:rPr lang="en-US" sz="2400" b="1" dirty="0" err="1"/>
              <a:t>WirelessHART’s</a:t>
            </a:r>
            <a:r>
              <a:rPr lang="en-US" sz="2400" b="1" dirty="0"/>
              <a:t> limitations</a:t>
            </a:r>
            <a:endParaRPr lang="en-US" sz="2400" dirty="0"/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More suitable </a:t>
            </a:r>
            <a:r>
              <a:rPr lang="en-US" sz="2000" dirty="0"/>
              <a:t>for Industry 4.0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Higher</a:t>
            </a:r>
            <a:r>
              <a:rPr lang="en-US" sz="2000" dirty="0"/>
              <a:t> network utilization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85% less </a:t>
            </a:r>
            <a:r>
              <a:rPr lang="en-US" sz="2000" dirty="0"/>
              <a:t>energy intensive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Maintained Performance</a:t>
            </a:r>
            <a:endParaRPr lang="en-US" sz="2400" dirty="0"/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Highly</a:t>
            </a:r>
            <a:r>
              <a:rPr lang="en-US" sz="2000" dirty="0"/>
              <a:t> scalable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Improved</a:t>
            </a:r>
            <a:r>
              <a:rPr lang="en-US" sz="2000" dirty="0"/>
              <a:t> adaptability </a:t>
            </a:r>
          </a:p>
          <a:p>
            <a:pPr lvl="1"/>
            <a:r>
              <a:rPr lang="en-US" sz="2000" dirty="0"/>
              <a:t>Preserves reliability</a:t>
            </a:r>
          </a:p>
          <a:p>
            <a:pPr lvl="1"/>
            <a:r>
              <a:rPr lang="en-US" sz="2000" dirty="0">
                <a:solidFill>
                  <a:srgbClr val="BD472A"/>
                </a:solidFill>
              </a:rPr>
              <a:t>Questionable latency </a:t>
            </a:r>
            <a:r>
              <a:rPr lang="en-US" sz="2000" dirty="0"/>
              <a:t>but </a:t>
            </a:r>
            <a:r>
              <a:rPr lang="en-US" sz="2000" dirty="0">
                <a:solidFill>
                  <a:srgbClr val="00664F"/>
                </a:solidFill>
              </a:rPr>
              <a:t>improved long-term </a:t>
            </a:r>
            <a:r>
              <a:rPr lang="en-US" sz="2000" dirty="0"/>
              <a:t>Real-Time performance</a:t>
            </a:r>
          </a:p>
          <a:p>
            <a:pPr lvl="1"/>
            <a:r>
              <a:rPr lang="en-US" sz="2000" dirty="0">
                <a:solidFill>
                  <a:srgbClr val="BD472A"/>
                </a:solidFill>
              </a:rPr>
              <a:t>Decreased Schedulability</a:t>
            </a:r>
            <a:r>
              <a:rPr lang="en-US" sz="2000" dirty="0"/>
              <a:t> but </a:t>
            </a:r>
            <a:r>
              <a:rPr lang="en-US" sz="2000" dirty="0" err="1"/>
              <a:t>competive</a:t>
            </a:r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1262B22-327C-D02D-EDC8-83CA5BD48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265202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AFE7-2357-8513-BD95-83EBB510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2D5F-6925-A481-A484-E061A4E1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778" y="2913884"/>
            <a:ext cx="8850976" cy="896116"/>
          </a:xfrm>
        </p:spPr>
        <p:txBody>
          <a:bodyPr anchor="ctr">
            <a:noAutofit/>
          </a:bodyPr>
          <a:lstStyle/>
          <a:p>
            <a:r>
              <a:rPr lang="en-US" sz="6000" dirty="0" err="1"/>
              <a:t>DistributedHART</a:t>
            </a:r>
            <a:r>
              <a:rPr lang="en-US" sz="6000" dirty="0"/>
              <a:t> Design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B32B777-112C-5FD5-32E2-4791AE396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9A0DAB-6B61-E52C-38DB-9855DC5CD0FD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441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7ADD-5077-E154-378F-23DCAF1C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DFCF-F90E-8FC9-00D0-912F8722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141512" cy="896116"/>
          </a:xfrm>
        </p:spPr>
        <p:txBody>
          <a:bodyPr anchor="ctr">
            <a:noAutofit/>
          </a:bodyPr>
          <a:lstStyle/>
          <a:p>
            <a:r>
              <a:rPr lang="en-US" dirty="0"/>
              <a:t>Design of </a:t>
            </a:r>
            <a:r>
              <a:rPr lang="en-US" dirty="0" err="1"/>
              <a:t>DistributedHART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879636-8606-BE37-FEB7-9441486C7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8" y="1686757"/>
            <a:ext cx="8574274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Bulk of work done at node level</a:t>
            </a:r>
          </a:p>
          <a:p>
            <a:pPr lvl="1"/>
            <a:r>
              <a:rPr lang="en-US" sz="2000" dirty="0"/>
              <a:t>Nodes schedule their transmissions locally online</a:t>
            </a:r>
          </a:p>
          <a:p>
            <a:pPr lvl="1"/>
            <a:r>
              <a:rPr lang="en-US" sz="2000" dirty="0"/>
              <a:t>Each node performs channel/time allocations, and scheduling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Execution Order</a:t>
            </a:r>
            <a:endParaRPr lang="en-US" sz="2000" b="1" dirty="0"/>
          </a:p>
          <a:p>
            <a:pPr marL="457200" lvl="1" indent="0">
              <a:buNone/>
            </a:pPr>
            <a:r>
              <a:rPr lang="en-US" sz="2000" dirty="0"/>
              <a:t>1. Network Manager generates routes (global)</a:t>
            </a:r>
          </a:p>
          <a:p>
            <a:pPr marL="457200" lvl="1" indent="0">
              <a:buNone/>
            </a:pPr>
            <a:r>
              <a:rPr lang="en-US" sz="2000" dirty="0"/>
              <a:t>2. Channel Allocation (distributed, offline)</a:t>
            </a:r>
          </a:p>
          <a:p>
            <a:pPr marL="457200" lvl="1" indent="0">
              <a:buNone/>
            </a:pPr>
            <a:r>
              <a:rPr lang="en-US" sz="2000" dirty="0"/>
              <a:t>3. Time Window Allocation (distributed, online)</a:t>
            </a:r>
          </a:p>
          <a:p>
            <a:pPr marL="457200" lvl="1" indent="0">
              <a:buNone/>
            </a:pPr>
            <a:r>
              <a:rPr lang="en-US" sz="2000" dirty="0"/>
              <a:t>4. Real-Time Scheduling (local, online)</a:t>
            </a:r>
          </a:p>
          <a:p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2CA48F8-4A2A-CCC3-28CB-70D34E5EF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3241826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64D29-47EF-2D19-9BDB-1FB16A17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6946-ADF4-2E46-66B4-B829AD67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0863447" cy="896116"/>
          </a:xfrm>
        </p:spPr>
        <p:txBody>
          <a:bodyPr anchor="ctr">
            <a:noAutofit/>
          </a:bodyPr>
          <a:lstStyle/>
          <a:p>
            <a:r>
              <a:rPr lang="en-US" dirty="0"/>
              <a:t>Channel Allocation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F74B20-90ED-2243-EED7-24FD9E3B4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573195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Signal-to-Noise plus Interference (SNIR)</a:t>
            </a:r>
          </a:p>
          <a:p>
            <a:pPr lvl="1">
              <a:buFontTx/>
              <a:buChar char="-"/>
            </a:pPr>
            <a:r>
              <a:rPr lang="en-US" sz="2000" dirty="0"/>
              <a:t>If exceeds threshold, then two nodes in conflict</a:t>
            </a:r>
            <a:endParaRPr lang="en-US" sz="1600" dirty="0"/>
          </a:p>
          <a:p>
            <a:pPr marL="457200" lvl="1" indent="0">
              <a:buNone/>
            </a:pPr>
            <a:endParaRPr lang="en-US" baseline="30000" dirty="0"/>
          </a:p>
          <a:p>
            <a:pPr marL="0" indent="0">
              <a:buNone/>
            </a:pPr>
            <a:r>
              <a:rPr lang="en-US" sz="2400" b="1" i="1" dirty="0"/>
              <a:t>Receiver conflict graph</a:t>
            </a:r>
            <a:endParaRPr lang="en-US" sz="2400" b="1" dirty="0"/>
          </a:p>
          <a:p>
            <a:pPr lvl="1">
              <a:buFontTx/>
              <a:buChar char="-"/>
            </a:pPr>
            <a:r>
              <a:rPr lang="en-US" sz="2000" dirty="0"/>
              <a:t>Each node maintains a physical interference model using SNIR</a:t>
            </a:r>
          </a:p>
          <a:p>
            <a:pPr lvl="1">
              <a:buFontTx/>
              <a:buChar char="-"/>
            </a:pPr>
            <a:r>
              <a:rPr lang="en-US" sz="2000" dirty="0"/>
              <a:t>Use vertex coloring to assign channels</a:t>
            </a:r>
          </a:p>
          <a:p>
            <a:pPr marL="457200" lvl="1" indent="0">
              <a:buNone/>
            </a:pPr>
            <a:endParaRPr lang="en-US" baseline="30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E70FBE4-5D6C-E16A-FC1A-E21BB52DF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53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63BC-C69F-587A-6375-5214BB43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0BF0-0BCB-49A6-E1AF-C8B8C236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Time Window Allocation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3542FD-D6D1-2F9C-A117-9B1A79259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/>
              <a:t>Transmitter conflict graph</a:t>
            </a:r>
            <a:endParaRPr lang="en-US" sz="2400" b="1" dirty="0"/>
          </a:p>
          <a:p>
            <a:pPr lvl="1">
              <a:buFontTx/>
              <a:buChar char="-"/>
            </a:pPr>
            <a:r>
              <a:rPr lang="en-US" sz="2000" dirty="0"/>
              <a:t>Graph over remaining conflicting nodes after channel allocation</a:t>
            </a:r>
          </a:p>
          <a:p>
            <a:pPr lvl="1">
              <a:buFontTx/>
              <a:buChar char="-"/>
            </a:pPr>
            <a:r>
              <a:rPr lang="en-US" sz="2000" dirty="0"/>
              <a:t>Two nodes have an edge if transmissions by both will lead to a collision at the recipients</a:t>
            </a:r>
          </a:p>
          <a:p>
            <a:pPr lvl="1">
              <a:buFontTx/>
              <a:buChar char="-"/>
            </a:pPr>
            <a:r>
              <a:rPr lang="en-US" sz="2000" dirty="0"/>
              <a:t>Use vertex coloring </a:t>
            </a:r>
            <a:r>
              <a:rPr lang="en-US" sz="2000" dirty="0">
                <a:sym typeface="Wingdings" pitchFamily="2" charset="2"/>
              </a:rPr>
              <a:t>to assign time windows</a:t>
            </a:r>
          </a:p>
          <a:p>
            <a:pPr lvl="1">
              <a:buFontTx/>
              <a:buChar char="-"/>
            </a:pPr>
            <a:endParaRPr lang="en-US" sz="2000" dirty="0">
              <a:sym typeface="Wingdings" pitchFamily="2" charset="2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181C144-D46A-663B-1A1F-CDD8578E6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24032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92C5C-EE6D-5CF3-2860-5E60A885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839C-518E-39C0-6FA6-77D26C76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Epoch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9B976F-D3D7-0C75-0EDC-AAA568845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Epoch</a:t>
            </a:r>
          </a:p>
          <a:p>
            <a:pPr marL="457200" lvl="1" indent="0">
              <a:buNone/>
            </a:pPr>
            <a:r>
              <a:rPr lang="en-US" sz="2000" b="1" dirty="0"/>
              <a:t>- </a:t>
            </a:r>
            <a:r>
              <a:rPr lang="en-US" sz="2000" dirty="0"/>
              <a:t>defines 1 full cycle of all assigned time windows, after which the sequence repeats.</a:t>
            </a:r>
          </a:p>
          <a:p>
            <a:pPr marL="0" indent="0">
              <a:buNone/>
            </a:pPr>
            <a:endParaRPr lang="en-US" sz="2400" b="1" i="1" dirty="0"/>
          </a:p>
          <a:p>
            <a:pPr marL="0" indent="0">
              <a:buNone/>
            </a:pPr>
            <a:r>
              <a:rPr lang="en-US" sz="2400" b="1" i="1" dirty="0"/>
              <a:t>W</a:t>
            </a:r>
            <a:r>
              <a:rPr lang="en-US" sz="2400" b="1" dirty="0"/>
              <a:t>: </a:t>
            </a:r>
            <a:r>
              <a:rPr lang="en-US" sz="2400" dirty="0"/>
              <a:t>time slots</a:t>
            </a:r>
          </a:p>
          <a:p>
            <a:pPr marL="0" indent="0">
              <a:buNone/>
            </a:pPr>
            <a:r>
              <a:rPr lang="el-GR" sz="2400" b="1" i="1" dirty="0"/>
              <a:t>γ</a:t>
            </a:r>
            <a:r>
              <a:rPr lang="en-US" sz="2400" b="1" dirty="0"/>
              <a:t>: </a:t>
            </a:r>
            <a:r>
              <a:rPr lang="en-US" sz="2400" dirty="0"/>
              <a:t>total number of unique windows </a:t>
            </a: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epoch</a:t>
            </a:r>
            <a:r>
              <a:rPr lang="en-US" sz="2000" b="1" dirty="0"/>
              <a:t> </a:t>
            </a:r>
            <a:r>
              <a:rPr lang="en-US" sz="2000" dirty="0"/>
              <a:t>= </a:t>
            </a:r>
            <a:r>
              <a:rPr lang="el-GR" sz="2400" i="1" dirty="0"/>
              <a:t>γ × </a:t>
            </a:r>
            <a:r>
              <a:rPr lang="en-US" sz="2400" i="1" dirty="0"/>
              <a:t>w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b="1" dirty="0"/>
              <a:t>Goal: </a:t>
            </a:r>
            <a:r>
              <a:rPr lang="en-US" sz="2400" dirty="0"/>
              <a:t>minimize </a:t>
            </a:r>
            <a:r>
              <a:rPr lang="el-GR" sz="2400" i="1" dirty="0"/>
              <a:t>γ</a:t>
            </a:r>
            <a:r>
              <a:rPr lang="en-US" sz="2400" i="1" dirty="0"/>
              <a:t> </a:t>
            </a:r>
            <a:r>
              <a:rPr lang="en-US" sz="2400" dirty="0">
                <a:sym typeface="Wingdings" pitchFamily="2" charset="2"/>
              </a:rPr>
              <a:t> smaller epoch  lower end-to-end delay</a:t>
            </a: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4077652-5DAE-42DF-C3F6-807F6D2B8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3948657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8FB6-8C8B-8A92-369E-DC9D1A4A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17CD-FD45-BA47-DBC2-F6050351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Scheduling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10DB60-FFB9-62E8-AD11-3B4E47AD5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Works on both fixed or dynamic policies</a:t>
            </a:r>
          </a:p>
          <a:p>
            <a:pPr>
              <a:buFontTx/>
              <a:buChar char="-"/>
            </a:pPr>
            <a:r>
              <a:rPr lang="en-US" sz="2400" dirty="0"/>
              <a:t>Deadline Monotonic (DM) </a:t>
            </a:r>
          </a:p>
          <a:p>
            <a:pPr>
              <a:buFontTx/>
              <a:buChar char="-"/>
            </a:pPr>
            <a:r>
              <a:rPr lang="en-US" sz="2400" dirty="0"/>
              <a:t>Earliest Deadline First (EDF)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Each node adopts policy locally</a:t>
            </a:r>
          </a:p>
          <a:p>
            <a:pPr>
              <a:buFontTx/>
              <a:buChar char="-"/>
            </a:pPr>
            <a:r>
              <a:rPr lang="en-US" sz="2400" dirty="0"/>
              <a:t>Network manager does not assign priorities</a:t>
            </a:r>
          </a:p>
          <a:p>
            <a:pPr>
              <a:buFontTx/>
              <a:buChar char="-"/>
            </a:pPr>
            <a:r>
              <a:rPr lang="en-US" sz="2400" dirty="0"/>
              <a:t>Each node knows priorities of packets at buffer </a:t>
            </a:r>
          </a:p>
          <a:p>
            <a:pPr>
              <a:buFontTx/>
              <a:buChar char="-"/>
            </a:pPr>
            <a:r>
              <a:rPr lang="en-US" sz="2400" dirty="0"/>
              <a:t>Source nodes determine their sampling period/deadline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Nodes respond to aperiodic events locally </a:t>
            </a:r>
            <a:r>
              <a:rPr lang="en-US" sz="2400" b="1" dirty="0"/>
              <a:t>locally</a:t>
            </a:r>
            <a:r>
              <a:rPr lang="en-US" sz="2400" dirty="0"/>
              <a:t> without global dissemination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BED15CB-B8EF-650C-9E6D-5B547A9DB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274370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F3FC-C66E-6858-4AC5-A221CBBE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81E5-E40B-EA27-11FC-0898398E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7E3B05-D329-0583-E728-96F844076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4374415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D472A"/>
                </a:solidFill>
              </a:rPr>
              <a:t>Assumption</a:t>
            </a:r>
            <a:r>
              <a:rPr lang="en-US" sz="2400" dirty="0"/>
              <a:t>: only one channel</a:t>
            </a:r>
          </a:p>
          <a:p>
            <a:pPr marL="0" indent="0">
              <a:buNone/>
            </a:pPr>
            <a:r>
              <a:rPr lang="en-US" sz="2400" b="1" dirty="0"/>
              <a:t>5</a:t>
            </a:r>
            <a:r>
              <a:rPr lang="en-US" sz="2400" dirty="0"/>
              <a:t> Nodes</a:t>
            </a:r>
          </a:p>
          <a:p>
            <a:pPr marL="0" indent="0">
              <a:buNone/>
            </a:pPr>
            <a:r>
              <a:rPr lang="en-US" sz="2400" b="1" dirty="0"/>
              <a:t>2</a:t>
            </a:r>
            <a:r>
              <a:rPr lang="en-US" sz="2400" dirty="0"/>
              <a:t> Flows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 = {F</a:t>
            </a:r>
            <a:r>
              <a:rPr lang="en-US" sz="2400" baseline="-25000" dirty="0"/>
              <a:t>1</a:t>
            </a:r>
            <a:r>
              <a:rPr lang="en-US" sz="2400" dirty="0"/>
              <a:t>, F</a:t>
            </a:r>
            <a:r>
              <a:rPr lang="en-US" sz="2400" baseline="-25000" dirty="0"/>
              <a:t>2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= 6</a:t>
            </a:r>
          </a:p>
          <a:p>
            <a:pPr marL="0" indent="0">
              <a:buNone/>
            </a:pPr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= 12</a:t>
            </a:r>
          </a:p>
          <a:p>
            <a:pPr marL="0" indent="0">
              <a:buNone/>
            </a:pPr>
            <a:r>
              <a:rPr lang="en-US" sz="2400" dirty="0"/>
              <a:t>D</a:t>
            </a:r>
            <a:r>
              <a:rPr lang="en-US" sz="2400" baseline="-25000" dirty="0"/>
              <a:t>1</a:t>
            </a:r>
            <a:r>
              <a:rPr lang="en-US" sz="2400" dirty="0"/>
              <a:t>&lt; D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aseline="-25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8C538E1-3902-E60F-661C-1FEA4B650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B4335B-A693-9153-673C-0C66EB0FEDA4}"/>
              </a:ext>
            </a:extLst>
          </p:cNvPr>
          <p:cNvGrpSpPr/>
          <p:nvPr/>
        </p:nvGrpSpPr>
        <p:grpSpPr>
          <a:xfrm>
            <a:off x="10057374" y="3810000"/>
            <a:ext cx="1378904" cy="1866378"/>
            <a:chOff x="10334845" y="2524273"/>
            <a:chExt cx="1378904" cy="186637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168CDFA-0950-8840-C37C-227FA23BE12D}"/>
                </a:ext>
              </a:extLst>
            </p:cNvPr>
            <p:cNvSpPr txBox="1"/>
            <p:nvPr/>
          </p:nvSpPr>
          <p:spPr>
            <a:xfrm>
              <a:off x="10334845" y="2913323"/>
              <a:ext cx="1378904" cy="1477328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Flow: F</a:t>
              </a:r>
              <a:r>
                <a:rPr lang="en-US" baseline="-25000" dirty="0"/>
                <a:t>i</a:t>
              </a:r>
              <a:endParaRPr lang="en-US" dirty="0"/>
            </a:p>
            <a:p>
              <a:r>
                <a:rPr lang="en-US" dirty="0"/>
                <a:t>Period: T</a:t>
              </a:r>
              <a:r>
                <a:rPr lang="en-US" baseline="-25000" dirty="0"/>
                <a:t>i</a:t>
              </a:r>
              <a:endParaRPr lang="en-US" dirty="0"/>
            </a:p>
            <a:p>
              <a:r>
                <a:rPr lang="en-US" dirty="0"/>
                <a:t>Deadline: D</a:t>
              </a:r>
              <a:r>
                <a:rPr lang="en-US" baseline="-25000" dirty="0"/>
                <a:t>i</a:t>
              </a:r>
              <a:endParaRPr lang="en-US" dirty="0"/>
            </a:p>
            <a:p>
              <a:endParaRPr lang="en-US" dirty="0"/>
            </a:p>
            <a:p>
              <a:r>
                <a:rPr lang="en-US" dirty="0"/>
                <a:t>D</a:t>
              </a:r>
              <a:r>
                <a:rPr lang="en-US" baseline="-25000" dirty="0"/>
                <a:t>i </a:t>
              </a:r>
              <a:r>
                <a:rPr lang="en-US" dirty="0"/>
                <a:t>&lt;= T</a:t>
              </a:r>
              <a:r>
                <a:rPr lang="en-US" baseline="-25000" dirty="0"/>
                <a:t>i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BEEBDD-3CB6-D99B-0A4C-A8636FB65810}"/>
                </a:ext>
              </a:extLst>
            </p:cNvPr>
            <p:cNvSpPr txBox="1"/>
            <p:nvPr/>
          </p:nvSpPr>
          <p:spPr>
            <a:xfrm>
              <a:off x="10334845" y="2524273"/>
              <a:ext cx="137890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14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1DD7-1E1C-46FA-587D-3295502D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D3EF-160F-29F7-ADAE-646D6605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A4B8890-5FB1-B30D-3968-FBEBC785F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74888AE-FBDF-59C8-2F65-40ABDE7DA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3E2B43EE-B3F9-C9BB-FF38-47C9EAB933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181C70-8890-BFB9-D9EA-38260D1225AB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438AE-36E6-E298-D109-282A76A37057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D7372-E567-BE66-16CC-AD9102885E59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</p:spTree>
    <p:extLst>
      <p:ext uri="{BB962C8B-B14F-4D97-AF65-F5344CB8AC3E}">
        <p14:creationId xmlns:p14="http://schemas.microsoft.com/office/powerpoint/2010/main" val="2284093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A3EC-FCA4-AD07-66F7-D709D68B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F4DB-5384-5B47-880D-3CA3462E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E0F198E-2A29-619D-639B-78FA07ACC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6742629-3357-C00F-4C28-345CCDB03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F3A2759B-F409-C570-030E-A7CFDD9331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F9AA8E-53C5-D383-7DC5-FAB66C9A5465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B3C2D-8123-B631-9004-ABC85DCE637D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AEA939-8D80-25F3-2459-7CB6B88F622C}"/>
              </a:ext>
            </a:extLst>
          </p:cNvPr>
          <p:cNvSpPr/>
          <p:nvPr/>
        </p:nvSpPr>
        <p:spPr>
          <a:xfrm>
            <a:off x="1503770" y="4667773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58E9F2-CF8E-801A-BFFF-B619B6FE9710}"/>
              </a:ext>
            </a:extLst>
          </p:cNvPr>
          <p:cNvSpPr/>
          <p:nvPr/>
        </p:nvSpPr>
        <p:spPr>
          <a:xfrm>
            <a:off x="6492690" y="3147237"/>
            <a:ext cx="329359" cy="2123811"/>
          </a:xfrm>
          <a:prstGeom prst="rect">
            <a:avLst/>
          </a:prstGeom>
          <a:solidFill>
            <a:schemeClr val="tx2"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5C5124-E1A1-9943-BFCC-9EC63CF074C5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746029" y="4274288"/>
            <a:ext cx="316687" cy="393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0904D0-507C-B5F4-F9D4-7E7DADD10EE1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</p:spTree>
    <p:extLst>
      <p:ext uri="{BB962C8B-B14F-4D97-AF65-F5344CB8AC3E}">
        <p14:creationId xmlns:p14="http://schemas.microsoft.com/office/powerpoint/2010/main" val="379959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52B9-ADB4-A068-74EC-8B38EC31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F075-F6EE-80C1-A00A-36AC79ED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5A8AD96-5CE0-C95E-301E-29E26A526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FF75616-74DF-AA54-23DE-41E7F0959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D3A7444F-DBA6-79B3-0993-0646BC55A0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6C6EFA-21BD-1B94-B698-536F30B91B61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40894-91C4-0767-509C-5DE46AED5E90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0F109-7E23-C49D-410D-0EEFBC5369C3}"/>
              </a:ext>
            </a:extLst>
          </p:cNvPr>
          <p:cNvSpPr/>
          <p:nvPr/>
        </p:nvSpPr>
        <p:spPr>
          <a:xfrm>
            <a:off x="1741435" y="4021618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FF8F3-97DB-F60D-5C6F-7DF57360CAF0}"/>
              </a:ext>
            </a:extLst>
          </p:cNvPr>
          <p:cNvSpPr/>
          <p:nvPr/>
        </p:nvSpPr>
        <p:spPr>
          <a:xfrm>
            <a:off x="6861939" y="3139036"/>
            <a:ext cx="329359" cy="2132012"/>
          </a:xfrm>
          <a:prstGeom prst="rect">
            <a:avLst/>
          </a:prstGeom>
          <a:solidFill>
            <a:schemeClr val="tx1">
              <a:lumMod val="50000"/>
              <a:lumOff val="50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F18D5F-491A-2F18-AC87-C5B3FC4C75B6}"/>
              </a:ext>
            </a:extLst>
          </p:cNvPr>
          <p:cNvSpPr/>
          <p:nvPr/>
        </p:nvSpPr>
        <p:spPr>
          <a:xfrm>
            <a:off x="2883713" y="4749122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B57D8E-6CAC-E583-1A72-48AD9E61F82D}"/>
              </a:ext>
            </a:extLst>
          </p:cNvPr>
          <p:cNvCxnSpPr>
            <a:cxnSpLocks/>
          </p:cNvCxnSpPr>
          <p:nvPr/>
        </p:nvCxnSpPr>
        <p:spPr>
          <a:xfrm flipH="1" flipV="1">
            <a:off x="2470373" y="4266247"/>
            <a:ext cx="534959" cy="508173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936DFB-17AD-87B5-ECEB-EF81029D7145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</p:spTree>
    <p:extLst>
      <p:ext uri="{BB962C8B-B14F-4D97-AF65-F5344CB8AC3E}">
        <p14:creationId xmlns:p14="http://schemas.microsoft.com/office/powerpoint/2010/main" val="1244954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59D3B-0701-BE87-0C95-A3BA0156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ADA0-75BF-6633-9900-2E7EE869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8C4E250-C9D5-866F-5223-3E766C0ED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AE2B39F-4F73-C5ED-29D5-E895991CF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1AAF34C9-DB79-6C4C-AF9B-31164D67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900DD-CE04-F7D1-E0B7-4A73C4C0C497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CC278-2218-C5AD-5072-B610AAEC67BB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A0B5DB-1663-13FC-E8E0-2F09D4DD2AFF}"/>
              </a:ext>
            </a:extLst>
          </p:cNvPr>
          <p:cNvSpPr/>
          <p:nvPr/>
        </p:nvSpPr>
        <p:spPr>
          <a:xfrm>
            <a:off x="1793076" y="4005238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2E65B7-F81C-A344-AC87-A91AD417DA84}"/>
              </a:ext>
            </a:extLst>
          </p:cNvPr>
          <p:cNvSpPr/>
          <p:nvPr/>
        </p:nvSpPr>
        <p:spPr>
          <a:xfrm>
            <a:off x="7268905" y="3139035"/>
            <a:ext cx="329359" cy="2132013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566309-C161-7AAD-5729-722EE512681D}"/>
              </a:ext>
            </a:extLst>
          </p:cNvPr>
          <p:cNvSpPr/>
          <p:nvPr/>
        </p:nvSpPr>
        <p:spPr>
          <a:xfrm>
            <a:off x="2277594" y="4143932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775313-D076-544B-2238-6409374047A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035335" y="3222905"/>
            <a:ext cx="484518" cy="7823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7BE940-A5F5-CA0F-4A85-6975E4AD85AC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</p:spTree>
    <p:extLst>
      <p:ext uri="{BB962C8B-B14F-4D97-AF65-F5344CB8AC3E}">
        <p14:creationId xmlns:p14="http://schemas.microsoft.com/office/powerpoint/2010/main" val="1002812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A56D-15C6-BC44-AB8B-6B95BDDB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C64D-4484-290F-8B22-0E7A829F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BA47685-FA5F-D165-1429-54B840E30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CC10B03-1982-89FB-D9CC-308BB909A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D5DA97F3-FC64-03FB-A85F-540950F0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5185A4-10D9-C7A0-6835-FF5732855021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44238-6AE9-CFDC-F06F-A302F83A2FB5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65D4A1-21FF-8910-F697-841E46729285}"/>
              </a:ext>
            </a:extLst>
          </p:cNvPr>
          <p:cNvSpPr/>
          <p:nvPr/>
        </p:nvSpPr>
        <p:spPr>
          <a:xfrm>
            <a:off x="7701664" y="3139035"/>
            <a:ext cx="329359" cy="2132013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1E60C5-8BAF-4B54-FD93-0AA373723715}"/>
              </a:ext>
            </a:extLst>
          </p:cNvPr>
          <p:cNvSpPr/>
          <p:nvPr/>
        </p:nvSpPr>
        <p:spPr>
          <a:xfrm>
            <a:off x="2208313" y="4021617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04B11E-3C5B-460B-BE85-07FE515AA121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</p:spTree>
    <p:extLst>
      <p:ext uri="{BB962C8B-B14F-4D97-AF65-F5344CB8AC3E}">
        <p14:creationId xmlns:p14="http://schemas.microsoft.com/office/powerpoint/2010/main" val="2386547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3069-B7A4-2336-0FC2-B0E65BB1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B3C4-84F7-6517-70FF-B7E8F1A5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9992E00-427E-55A6-58B1-A295D7C5A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C67F532-4F82-F55B-16CC-3EF9FBCD4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49AC9B5E-BFA7-213F-F193-ED8CCC26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FDE3CD-49ED-8185-A592-CDD578201581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5C6A0-A1EB-00CC-62C0-1C4CF37349DB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C205C-8699-6995-ECE9-1690D48CDE17}"/>
              </a:ext>
            </a:extLst>
          </p:cNvPr>
          <p:cNvSpPr/>
          <p:nvPr/>
        </p:nvSpPr>
        <p:spPr>
          <a:xfrm>
            <a:off x="8084437" y="3151744"/>
            <a:ext cx="329359" cy="2119304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9DD0D0-0771-BCEB-E40F-CD6D421B7C3B}"/>
              </a:ext>
            </a:extLst>
          </p:cNvPr>
          <p:cNvSpPr/>
          <p:nvPr/>
        </p:nvSpPr>
        <p:spPr>
          <a:xfrm>
            <a:off x="2208313" y="4021617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4037C-2167-2245-F6FB-DCB5F1DB486D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</p:spTree>
    <p:extLst>
      <p:ext uri="{BB962C8B-B14F-4D97-AF65-F5344CB8AC3E}">
        <p14:creationId xmlns:p14="http://schemas.microsoft.com/office/powerpoint/2010/main" val="4187636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E8D1-58F8-0F46-7ABF-3084C119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CEF5-305E-6EB7-5EB6-2873AB45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70E1759-C663-C789-20C7-6FC7F62D2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6E62419-1083-76F4-60A1-511D75DF1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D430A37A-D7B5-399E-B008-DCB4A4B3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1A9A69-A9AA-D23C-366E-14E5EB239DD9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CAC04-26EE-82CA-C32C-DF309FE6AC0D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F4CBD-A442-EC8E-E3A4-B8E45BD63C1A}"/>
              </a:ext>
            </a:extLst>
          </p:cNvPr>
          <p:cNvSpPr/>
          <p:nvPr/>
        </p:nvSpPr>
        <p:spPr>
          <a:xfrm>
            <a:off x="8509739" y="3139034"/>
            <a:ext cx="329359" cy="2132014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D165C2-2C6A-F68B-A891-93AEDC8DB3F5}"/>
              </a:ext>
            </a:extLst>
          </p:cNvPr>
          <p:cNvSpPr/>
          <p:nvPr/>
        </p:nvSpPr>
        <p:spPr>
          <a:xfrm>
            <a:off x="2208313" y="4021617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F4DEEE-F32E-4892-4ADE-7403C1CC121A}"/>
              </a:ext>
            </a:extLst>
          </p:cNvPr>
          <p:cNvCxnSpPr>
            <a:stCxn id="12" idx="0"/>
          </p:cNvCxnSpPr>
          <p:nvPr/>
        </p:nvCxnSpPr>
        <p:spPr>
          <a:xfrm flipV="1">
            <a:off x="2450572" y="3232298"/>
            <a:ext cx="69281" cy="789319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BE092A-CAE0-BE76-C5EF-D3E5DDFB0FFB}"/>
              </a:ext>
            </a:extLst>
          </p:cNvPr>
          <p:cNvSpPr txBox="1"/>
          <p:nvPr/>
        </p:nvSpPr>
        <p:spPr>
          <a:xfrm>
            <a:off x="952500" y="1707866"/>
            <a:ext cx="13441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</p:spTree>
    <p:extLst>
      <p:ext uri="{BB962C8B-B14F-4D97-AF65-F5344CB8AC3E}">
        <p14:creationId xmlns:p14="http://schemas.microsoft.com/office/powerpoint/2010/main" val="2834211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5D7F-9336-411A-1998-5290A442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E3A6-7890-82C0-FD15-9F712C52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Slot Sharing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C6C41C-2F9B-4A3E-76D2-2BBF4EE94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Dedicated Slots</a:t>
            </a:r>
          </a:p>
          <a:p>
            <a:pPr lvl="1">
              <a:buFontTx/>
              <a:buChar char="-"/>
            </a:pPr>
            <a:r>
              <a:rPr lang="en-US" sz="2000" dirty="0"/>
              <a:t>time slots within a node’s time window used immediately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Shared Slots</a:t>
            </a:r>
          </a:p>
          <a:p>
            <a:pPr marL="457200" lvl="1" indent="0">
              <a:buNone/>
            </a:pPr>
            <a:r>
              <a:rPr lang="en-US" sz="2000" b="1" dirty="0"/>
              <a:t>- </a:t>
            </a:r>
            <a:r>
              <a:rPr lang="en-US" sz="2000" dirty="0"/>
              <a:t>time slots within or outside a node’s time window, used opportunistically if idle.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If transmission failure is handled by nodes locally:</a:t>
            </a:r>
          </a:p>
          <a:p>
            <a:pPr marL="457200" lvl="1" indent="0">
              <a:buNone/>
            </a:pPr>
            <a:r>
              <a:rPr lang="en-US" sz="2000" dirty="0"/>
              <a:t>1. After failure, node waits for some </a:t>
            </a:r>
            <a:r>
              <a:rPr lang="el-GR" i="1" dirty="0"/>
              <a:t>Θ</a:t>
            </a:r>
            <a:r>
              <a:rPr lang="en-US" i="1" dirty="0"/>
              <a:t>. </a:t>
            </a:r>
          </a:p>
          <a:p>
            <a:pPr marL="457200" lvl="1" indent="0">
              <a:buNone/>
            </a:pPr>
            <a:r>
              <a:rPr lang="en-US" sz="2000" dirty="0"/>
              <a:t>2. After </a:t>
            </a:r>
            <a:r>
              <a:rPr lang="el-GR" i="1" dirty="0"/>
              <a:t>Θ</a:t>
            </a:r>
            <a:r>
              <a:rPr lang="en-US" i="1" dirty="0"/>
              <a:t>, </a:t>
            </a:r>
            <a:r>
              <a:rPr lang="en-US" sz="2000" dirty="0"/>
              <a:t>If no transmissions sensed, take slot as “shared”.</a:t>
            </a:r>
          </a:p>
          <a:p>
            <a:pPr marL="457200" lvl="1" indent="0">
              <a:buNone/>
            </a:pPr>
            <a:r>
              <a:rPr lang="en-US" sz="2000" dirty="0"/>
              <a:t>3. wait random back-off and transmit packet.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l-GR" sz="2400" b="1" i="1" dirty="0"/>
              <a:t>Θ</a:t>
            </a:r>
            <a:r>
              <a:rPr lang="en-US" sz="2400" dirty="0"/>
              <a:t>: sensing delay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664F4BB-84E2-6B76-9443-A119BD8E6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682453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D735-85CB-9DAC-0B8A-A0ED2E1E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20DE-3975-0B6D-2AEB-BF4F55AD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Slot Sharing Re-Transmission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72CA37A-6CCF-551E-7974-FE55CC0A6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4562" y="3182779"/>
            <a:ext cx="5611494" cy="1040677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5F1C409-6B0A-F679-62DC-4053FCA74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96672B-CC5D-39DE-92DA-80CDCC8CF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3395E9-BE49-BDD7-5E3D-00EA4281A24E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B5CFF-F23A-8316-DCAE-FB52914A6DC7}"/>
              </a:ext>
            </a:extLst>
          </p:cNvPr>
          <p:cNvSpPr txBox="1"/>
          <p:nvPr/>
        </p:nvSpPr>
        <p:spPr>
          <a:xfrm>
            <a:off x="7095200" y="4392152"/>
            <a:ext cx="39201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3: An example of scheduling as dedicated and shared slot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9C3C8-8418-274D-14EF-D79899405417}"/>
              </a:ext>
            </a:extLst>
          </p:cNvPr>
          <p:cNvSpPr txBox="1"/>
          <p:nvPr/>
        </p:nvSpPr>
        <p:spPr>
          <a:xfrm>
            <a:off x="949324" y="1725750"/>
            <a:ext cx="13441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12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</a:t>
            </a:r>
            <a:r>
              <a:rPr lang="en-US" dirty="0"/>
              <a:t>24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18376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6611-EC8F-0379-C48C-CD1998BB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E3DB-F7CA-C7E7-4640-F0A4A330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Hidden Terminals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146B82C-A7C2-4444-3210-52BE61A71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3C3AC-C59C-DBCF-AD5E-971C840FDCAE}"/>
              </a:ext>
            </a:extLst>
          </p:cNvPr>
          <p:cNvSpPr txBox="1"/>
          <p:nvPr/>
        </p:nvSpPr>
        <p:spPr>
          <a:xfrm>
            <a:off x="952500" y="1655017"/>
            <a:ext cx="890388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Overlapping packet re-transmissions </a:t>
            </a:r>
            <a:endParaRPr lang="en-US" sz="2000" b="1" dirty="0"/>
          </a:p>
          <a:p>
            <a:pPr marL="800100" lvl="1" indent="-342900">
              <a:buFontTx/>
              <a:buChar char="-"/>
            </a:pPr>
            <a:r>
              <a:rPr lang="en-US" sz="2000" dirty="0"/>
              <a:t>Two nodes cannot hear each other, and both transmit to a third node</a:t>
            </a:r>
          </a:p>
          <a:p>
            <a:pPr marL="800100" lvl="1" indent="-342900">
              <a:buFontTx/>
              <a:buChar char="-"/>
            </a:pPr>
            <a:r>
              <a:rPr lang="en-US" sz="2000" dirty="0"/>
              <a:t>Failure in carrier sensing</a:t>
            </a:r>
          </a:p>
          <a:p>
            <a:pPr marL="800100" lvl="1" indent="-342900">
              <a:buFontTx/>
              <a:buChar char="-"/>
            </a:pPr>
            <a:endParaRPr lang="en-US" sz="2000" dirty="0"/>
          </a:p>
          <a:p>
            <a:pPr marL="800100" lvl="1" indent="-342900">
              <a:buFontTx/>
              <a:buChar char="-"/>
            </a:pPr>
            <a:endParaRPr lang="en-US" sz="20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9474B7-6EEC-0A82-DFB8-FA5F7BF9E647}"/>
              </a:ext>
            </a:extLst>
          </p:cNvPr>
          <p:cNvGrpSpPr/>
          <p:nvPr/>
        </p:nvGrpSpPr>
        <p:grpSpPr>
          <a:xfrm>
            <a:off x="3415237" y="2749863"/>
            <a:ext cx="6618353" cy="3277544"/>
            <a:chOff x="4148884" y="2686068"/>
            <a:chExt cx="6618353" cy="3277544"/>
          </a:xfrm>
        </p:grpSpPr>
        <p:pic>
          <p:nvPicPr>
            <p:cNvPr id="8" name="Content Placeholder 2">
              <a:extLst>
                <a:ext uri="{FF2B5EF4-FFF2-40B4-BE49-F238E27FC236}">
                  <a16:creationId xmlns:a16="http://schemas.microsoft.com/office/drawing/2014/main" id="{6E78DE79-65AA-9276-0DED-B10B626A5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61303"/>
            <a:stretch>
              <a:fillRect/>
            </a:stretch>
          </p:blipFill>
          <p:spPr>
            <a:xfrm>
              <a:off x="4148884" y="2686068"/>
              <a:ext cx="6618353" cy="286994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09E257-A6B6-0DEF-9383-6E152500ACBD}"/>
                </a:ext>
              </a:extLst>
            </p:cNvPr>
            <p:cNvSpPr txBox="1"/>
            <p:nvPr/>
          </p:nvSpPr>
          <p:spPr>
            <a:xfrm>
              <a:off x="5623322" y="5717391"/>
              <a:ext cx="39450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2a: Time window allocation example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4C97E0-1C11-AC80-D8F2-162A9A303ED2}"/>
                </a:ext>
              </a:extLst>
            </p:cNvPr>
            <p:cNvSpPr/>
            <p:nvPr/>
          </p:nvSpPr>
          <p:spPr>
            <a:xfrm>
              <a:off x="7056290" y="4984265"/>
              <a:ext cx="484518" cy="24462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P21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846F32-62BC-1815-2842-CF41EF9BA2D4}"/>
                </a:ext>
              </a:extLst>
            </p:cNvPr>
            <p:cNvSpPr/>
            <p:nvPr/>
          </p:nvSpPr>
          <p:spPr>
            <a:xfrm>
              <a:off x="5381063" y="4984265"/>
              <a:ext cx="484518" cy="24462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P11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F8D7A86-6633-095E-BBDC-8672C4C957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3449" y="4327852"/>
              <a:ext cx="788239" cy="656413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0A52677-7DE9-5BEC-18E1-9547A9BB6118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5623322" y="4433999"/>
              <a:ext cx="559517" cy="55026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lus 23">
              <a:extLst>
                <a:ext uri="{FF2B5EF4-FFF2-40B4-BE49-F238E27FC236}">
                  <a16:creationId xmlns:a16="http://schemas.microsoft.com/office/drawing/2014/main" id="{62344390-03FB-A93F-A188-A32A9A9E4497}"/>
                </a:ext>
              </a:extLst>
            </p:cNvPr>
            <p:cNvSpPr/>
            <p:nvPr/>
          </p:nvSpPr>
          <p:spPr>
            <a:xfrm rot="3240248">
              <a:off x="6048726" y="3918707"/>
              <a:ext cx="679074" cy="718571"/>
            </a:xfrm>
            <a:prstGeom prst="mathPlus">
              <a:avLst>
                <a:gd name="adj1" fmla="val 17375"/>
              </a:avLst>
            </a:prstGeom>
            <a:solidFill>
              <a:srgbClr val="BD472A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7014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52FA-6140-DE20-27FC-ABA13C84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E50E-478F-6D78-21F6-390D254F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Capture Effect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DA1243-4DC7-8518-3DDE-BC0ED9D2A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802.15.4 Radio Behavior</a:t>
            </a:r>
          </a:p>
          <a:p>
            <a:pPr marL="457200" lvl="1" indent="0">
              <a:buNone/>
            </a:pPr>
            <a:r>
              <a:rPr lang="en-US" sz="2000" dirty="0"/>
              <a:t>1. Detect and locks preamble with strongest Received Signal Strength (RSS) </a:t>
            </a:r>
          </a:p>
          <a:p>
            <a:pPr marL="457200" lvl="1" indent="0">
              <a:buNone/>
            </a:pPr>
            <a:r>
              <a:rPr lang="en-US" sz="2000" dirty="0"/>
              <a:t>2. Once locked, raise interrupt, and stop searching </a:t>
            </a:r>
          </a:p>
          <a:p>
            <a:pPr marL="457200" lvl="1" indent="0">
              <a:buNone/>
            </a:pPr>
            <a:r>
              <a:rPr lang="en-US" sz="2000" dirty="0"/>
              <a:t>3. Decode packet and ignore subsequent packets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b="1" dirty="0"/>
              <a:t>Exploit</a:t>
            </a:r>
          </a:p>
          <a:p>
            <a:pPr>
              <a:buFontTx/>
              <a:buChar char="-"/>
            </a:pPr>
            <a:r>
              <a:rPr lang="en-US" sz="2000" dirty="0"/>
              <a:t>If in dedicated slot, transmit at full power immediately</a:t>
            </a:r>
          </a:p>
          <a:p>
            <a:pPr>
              <a:buFontTx/>
              <a:buChar char="-"/>
            </a:pPr>
            <a:r>
              <a:rPr lang="en-US" sz="2000" dirty="0"/>
              <a:t>If a re-transmission in shared slot, transmit at weaker power after </a:t>
            </a:r>
            <a:r>
              <a:rPr lang="el-GR" sz="2000" b="1" i="1" dirty="0"/>
              <a:t>Θ</a:t>
            </a:r>
            <a:r>
              <a:rPr lang="en-US" sz="2000" dirty="0"/>
              <a:t> 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55D1D67-165A-812F-3680-48088F0B9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07760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80966-3953-A67C-4481-5D4880AA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4E46-69A8-FE10-9F14-785862E4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Capture Effect Experiment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0B2074E-74F5-A49A-8525-6053E303B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3F8092-7577-8B85-9311-BC0CD8536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53618" y="1991979"/>
            <a:ext cx="4940005" cy="247000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63377-0060-1722-32EA-BC91EBB3A100}"/>
              </a:ext>
            </a:extLst>
          </p:cNvPr>
          <p:cNvSpPr txBox="1"/>
          <p:nvPr/>
        </p:nvSpPr>
        <p:spPr>
          <a:xfrm>
            <a:off x="7666199" y="4718565"/>
            <a:ext cx="26862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4: Capture effect experiment setup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AEE2B852-8CAD-3074-BCC1-B92C95FB7DD3}"/>
              </a:ext>
            </a:extLst>
          </p:cNvPr>
          <p:cNvSpPr txBox="1">
            <a:spLocks/>
          </p:cNvSpPr>
          <p:nvPr/>
        </p:nvSpPr>
        <p:spPr>
          <a:xfrm>
            <a:off x="952497" y="1686757"/>
            <a:ext cx="10796479" cy="42568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Goals</a:t>
            </a:r>
          </a:p>
          <a:p>
            <a:pPr lvl="1">
              <a:buFontTx/>
              <a:buChar char="-"/>
            </a:pPr>
            <a:r>
              <a:rPr lang="en-US" sz="2000" dirty="0"/>
              <a:t>Determine </a:t>
            </a:r>
            <a:r>
              <a:rPr lang="el-GR" sz="2000" b="1" i="1" dirty="0"/>
              <a:t>Θ</a:t>
            </a:r>
            <a:r>
              <a:rPr lang="en-US" sz="2000" b="1" i="1" dirty="0"/>
              <a:t> </a:t>
            </a:r>
            <a:r>
              <a:rPr lang="en-US" sz="2000" dirty="0"/>
              <a:t>before re-transmission</a:t>
            </a:r>
            <a:endParaRPr lang="en-US" sz="2000" b="1" i="1" dirty="0"/>
          </a:p>
          <a:p>
            <a:pPr lvl="1">
              <a:buFontTx/>
              <a:buChar char="-"/>
            </a:pPr>
            <a:r>
              <a:rPr lang="en-US" sz="2000" dirty="0"/>
              <a:t>Determine re-transmission Tx power</a:t>
            </a:r>
          </a:p>
          <a:p>
            <a:pPr lvl="1">
              <a:buFontTx/>
              <a:buChar char="-"/>
            </a:pPr>
            <a:r>
              <a:rPr lang="en-US" sz="2000" dirty="0"/>
              <a:t>Observe distance variation </a:t>
            </a:r>
          </a:p>
          <a:p>
            <a:pPr lvl="1"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Metric</a:t>
            </a:r>
          </a:p>
          <a:p>
            <a:pPr lvl="1">
              <a:buFontTx/>
              <a:buChar char="-"/>
            </a:pPr>
            <a:r>
              <a:rPr lang="en-US" sz="2000" dirty="0"/>
              <a:t>Packet Reception Rate (PPR)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1804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B640-9D35-61EC-952B-63B1A7D6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50C6-238A-DF0A-60E5-1F6EDE87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Capture Effect Experiment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7B2C443-F23F-3587-0F28-B166FCAF0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EC74FF-B33D-4733-2491-76C23628F5E9}"/>
              </a:ext>
            </a:extLst>
          </p:cNvPr>
          <p:cNvGrpSpPr/>
          <p:nvPr/>
        </p:nvGrpSpPr>
        <p:grpSpPr>
          <a:xfrm>
            <a:off x="894972" y="2077213"/>
            <a:ext cx="3249761" cy="2657924"/>
            <a:chOff x="516282" y="2381024"/>
            <a:chExt cx="3832433" cy="29763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7538F5-2DE0-EDC9-4CEE-E277ABA4C3F2}"/>
                </a:ext>
              </a:extLst>
            </p:cNvPr>
            <p:cNvSpPr txBox="1"/>
            <p:nvPr/>
          </p:nvSpPr>
          <p:spPr>
            <a:xfrm>
              <a:off x="1705408" y="5081690"/>
              <a:ext cx="2347429" cy="2757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5a: Time difference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AC562C-0253-60F9-5DA0-9B7ABD484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7113" b="13671"/>
            <a:stretch>
              <a:fillRect/>
            </a:stretch>
          </p:blipFill>
          <p:spPr>
            <a:xfrm>
              <a:off x="516282" y="2381024"/>
              <a:ext cx="3832433" cy="257901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2E7E44-0346-8685-C743-DE0486F713C0}"/>
              </a:ext>
            </a:extLst>
          </p:cNvPr>
          <p:cNvGrpSpPr/>
          <p:nvPr/>
        </p:nvGrpSpPr>
        <p:grpSpPr>
          <a:xfrm>
            <a:off x="4552280" y="2028390"/>
            <a:ext cx="3474634" cy="2706748"/>
            <a:chOff x="4263655" y="2326353"/>
            <a:chExt cx="4097624" cy="30310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1A8BA8-80A7-E11C-7A99-5F9A197C1045}"/>
                </a:ext>
              </a:extLst>
            </p:cNvPr>
            <p:cNvSpPr txBox="1"/>
            <p:nvPr/>
          </p:nvSpPr>
          <p:spPr>
            <a:xfrm>
              <a:off x="5606969" y="5081693"/>
              <a:ext cx="2153227" cy="2757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5b: Power difference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15A357-4D23-A8A0-EDA4-3033ED4BD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154" r="32140" b="13095"/>
            <a:stretch>
              <a:fillRect/>
            </a:stretch>
          </p:blipFill>
          <p:spPr>
            <a:xfrm>
              <a:off x="4263655" y="2326353"/>
              <a:ext cx="4097624" cy="2633688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CFE3E7-DAD8-C72C-BCB9-D96957A9976B}"/>
              </a:ext>
            </a:extLst>
          </p:cNvPr>
          <p:cNvGrpSpPr/>
          <p:nvPr/>
        </p:nvGrpSpPr>
        <p:grpSpPr>
          <a:xfrm>
            <a:off x="8474778" y="2133768"/>
            <a:ext cx="3224052" cy="2601371"/>
            <a:chOff x="8096088" y="2444356"/>
            <a:chExt cx="3802114" cy="291305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EFEFE2-C732-E821-42F3-E219E6E6D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964" b="12261"/>
            <a:stretch>
              <a:fillRect/>
            </a:stretch>
          </p:blipFill>
          <p:spPr>
            <a:xfrm>
              <a:off x="8096088" y="2444356"/>
              <a:ext cx="3802114" cy="257035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4BBB85-AF00-6F12-BDDF-A067E196799E}"/>
                </a:ext>
              </a:extLst>
            </p:cNvPr>
            <p:cNvSpPr txBox="1"/>
            <p:nvPr/>
          </p:nvSpPr>
          <p:spPr>
            <a:xfrm>
              <a:off x="9543243" y="5081693"/>
              <a:ext cx="1771438" cy="2757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5c: Distance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51E8566-545B-0F0F-B8A2-1C0C14A9A1A5}"/>
              </a:ext>
            </a:extLst>
          </p:cNvPr>
          <p:cNvSpPr txBox="1"/>
          <p:nvPr/>
        </p:nvSpPr>
        <p:spPr>
          <a:xfrm>
            <a:off x="894972" y="4988000"/>
            <a:ext cx="30723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5a Conditions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Transmitters at 0dBm power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Varied </a:t>
            </a:r>
            <a:r>
              <a:rPr lang="el-GR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 transmissions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98C65E-41B9-480B-DBB8-9E1EF18354C0}"/>
              </a:ext>
            </a:extLst>
          </p:cNvPr>
          <p:cNvSpPr txBox="1"/>
          <p:nvPr/>
        </p:nvSpPr>
        <p:spPr>
          <a:xfrm>
            <a:off x="5117967" y="5014260"/>
            <a:ext cx="28231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5b Conditions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Fixed </a:t>
            </a:r>
            <a:r>
              <a:rPr lang="el-GR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ms.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One transmitter kept at 0dBm, other reduced.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7FC59-5F8A-31DF-40CA-9F9C4609D837}"/>
              </a:ext>
            </a:extLst>
          </p:cNvPr>
          <p:cNvSpPr txBox="1"/>
          <p:nvPr/>
        </p:nvSpPr>
        <p:spPr>
          <a:xfrm>
            <a:off x="9165265" y="4973658"/>
            <a:ext cx="310049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5c Conditions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dirty="0"/>
              <a:t>- Fixed </a:t>
            </a:r>
            <a:r>
              <a:rPr lang="el-GR" sz="1100" dirty="0"/>
              <a:t>θ = 3 </a:t>
            </a:r>
            <a:r>
              <a:rPr lang="en-US" sz="1100" dirty="0" err="1"/>
              <a:t>ms</a:t>
            </a:r>
            <a:r>
              <a:rPr lang="en-US" sz="1100" dirty="0"/>
              <a:t> </a:t>
            </a:r>
          </a:p>
          <a:p>
            <a:r>
              <a:rPr lang="en-US" sz="1100" dirty="0"/>
              <a:t>- Fixed 3 dB power difference.</a:t>
            </a:r>
          </a:p>
          <a:p>
            <a:r>
              <a:rPr lang="en-US" sz="1100" dirty="0"/>
              <a:t>- Varied distance between transmitters and receiver.</a:t>
            </a:r>
          </a:p>
        </p:txBody>
      </p:sp>
    </p:spTree>
    <p:extLst>
      <p:ext uri="{BB962C8B-B14F-4D97-AF65-F5344CB8AC3E}">
        <p14:creationId xmlns:p14="http://schemas.microsoft.com/office/powerpoint/2010/main" val="2392434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8237-C435-0543-D549-B9692A79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349E-B501-97FD-DEB2-C8F379A0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27" y="2913884"/>
            <a:ext cx="9297545" cy="896116"/>
          </a:xfrm>
        </p:spPr>
        <p:txBody>
          <a:bodyPr anchor="ctr">
            <a:noAutofit/>
          </a:bodyPr>
          <a:lstStyle/>
          <a:p>
            <a:r>
              <a:rPr lang="en-US" sz="6000" dirty="0" err="1"/>
              <a:t>DistributedHART</a:t>
            </a:r>
            <a:r>
              <a:rPr lang="en-US" sz="6000" dirty="0"/>
              <a:t> Analysis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C966F44-B40B-7A36-CBF4-177175FB2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745B7B-92C6-40D4-C48D-264695A40860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6842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8B86B-D666-CD58-9E75-7A9557AC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5069-A1ED-31D9-D17D-7AA593740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Flow P(Success)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5E089E-E6E7-6443-D133-6D2B1F835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k:</a:t>
            </a:r>
            <a:r>
              <a:rPr lang="en-US" sz="2000" dirty="0"/>
              <a:t> </a:t>
            </a:r>
            <a:r>
              <a:rPr lang="en-US" sz="2000" b="1" dirty="0"/>
              <a:t> </a:t>
            </a:r>
            <a:r>
              <a:rPr lang="en-US" sz="2000" dirty="0"/>
              <a:t>index representing a link</a:t>
            </a:r>
          </a:p>
          <a:p>
            <a:pPr marL="0" indent="0">
              <a:buNone/>
            </a:pPr>
            <a:r>
              <a:rPr lang="en-US" sz="2000" b="1" dirty="0"/>
              <a:t>E</a:t>
            </a:r>
            <a:r>
              <a:rPr lang="en-US" sz="2000" b="1" baseline="-25000" dirty="0"/>
              <a:t>i </a:t>
            </a:r>
            <a:r>
              <a:rPr lang="en-US" sz="2000" b="1" dirty="0"/>
              <a:t>: </a:t>
            </a:r>
            <a:r>
              <a:rPr lang="en-US" sz="2000" dirty="0"/>
              <a:t>set of links making up primary route of flow F</a:t>
            </a:r>
          </a:p>
          <a:p>
            <a:pPr marL="0" indent="0">
              <a:buNone/>
            </a:pPr>
            <a:r>
              <a:rPr lang="en-US" sz="2000" b="1" dirty="0"/>
              <a:t>p</a:t>
            </a:r>
            <a:r>
              <a:rPr lang="en-US" sz="2000" b="1" baseline="-25000" dirty="0"/>
              <a:t>k </a:t>
            </a:r>
            <a:r>
              <a:rPr lang="en-US" sz="2000" b="1" dirty="0"/>
              <a:t>: </a:t>
            </a:r>
            <a:r>
              <a:rPr lang="en-US" sz="2000" dirty="0"/>
              <a:t>probability successful transmission over link k </a:t>
            </a:r>
            <a:endParaRPr lang="en-US" sz="2000" b="1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1CF0B60-41A4-A055-B8F7-8372B9C71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3B352-B16F-79CD-2003-3BEC9D17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875" y="3189546"/>
            <a:ext cx="5233395" cy="12409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4817C2-8084-3480-1DF1-F7D2117B60CB}"/>
              </a:ext>
            </a:extLst>
          </p:cNvPr>
          <p:cNvSpPr txBox="1"/>
          <p:nvPr/>
        </p:nvSpPr>
        <p:spPr>
          <a:xfrm>
            <a:off x="3881929" y="4476578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1: P(successful reception of packet through primary path of graph a route)</a:t>
            </a:r>
          </a:p>
        </p:txBody>
      </p:sp>
    </p:spTree>
    <p:extLst>
      <p:ext uri="{BB962C8B-B14F-4D97-AF65-F5344CB8AC3E}">
        <p14:creationId xmlns:p14="http://schemas.microsoft.com/office/powerpoint/2010/main" val="5406923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276F-67A2-1B71-A2B5-8F6ED4E7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721A-0296-5181-9EF2-CBA56E97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Flow Delay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013E65-5FF3-6C2F-78AA-57C010381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V</a:t>
            </a:r>
            <a:r>
              <a:rPr lang="en-US" sz="2000" b="1" baseline="-25000" dirty="0" err="1"/>
              <a:t>j</a:t>
            </a:r>
            <a:r>
              <a:rPr lang="en-US" sz="2000" b="1" dirty="0"/>
              <a:t> </a:t>
            </a:r>
            <a:r>
              <a:rPr lang="en-US" sz="2000" dirty="0"/>
              <a:t>= set of nodes in primary path </a:t>
            </a:r>
            <a:r>
              <a:rPr lang="en-US" sz="2000" b="1" dirty="0"/>
              <a:t>F</a:t>
            </a:r>
            <a:r>
              <a:rPr lang="en-US" sz="2000" b="1" baseline="-25000" dirty="0"/>
              <a:t>j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</a:t>
            </a:r>
            <a:r>
              <a:rPr lang="en-US" sz="2000" b="1" baseline="-25000" dirty="0"/>
              <a:t>v</a:t>
            </a:r>
            <a:r>
              <a:rPr lang="en-US" sz="2000" b="1" dirty="0"/>
              <a:t> (F</a:t>
            </a:r>
            <a:r>
              <a:rPr lang="en-US" sz="2000" b="1" baseline="-25000" dirty="0"/>
              <a:t>i </a:t>
            </a:r>
            <a:r>
              <a:rPr lang="en-US" sz="2000" b="1" dirty="0"/>
              <a:t>) = </a:t>
            </a:r>
            <a:r>
              <a:rPr lang="en-US" sz="2000" dirty="0"/>
              <a:t>{ F</a:t>
            </a:r>
            <a:r>
              <a:rPr lang="en-US" sz="2000" baseline="-25000" dirty="0"/>
              <a:t>j</a:t>
            </a:r>
            <a:r>
              <a:rPr lang="en-US" sz="2000" dirty="0"/>
              <a:t> | v</a:t>
            </a:r>
            <a:r>
              <a:rPr lang="en-US" sz="2000" i="1" dirty="0"/>
              <a:t> </a:t>
            </a:r>
            <a:r>
              <a:rPr lang="en-US" sz="2000" dirty="0"/>
              <a:t>∈ </a:t>
            </a:r>
            <a:r>
              <a:rPr lang="en-US" sz="2000" dirty="0" err="1"/>
              <a:t>V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 </a:t>
            </a:r>
            <a:r>
              <a:rPr lang="en-US" sz="2000" dirty="0"/>
              <a:t>} = set of flows passing through node v</a:t>
            </a:r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428ED29-D5E9-851D-5CD7-030B4CAB5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B5F66-2793-9681-B064-C5947D640F0C}"/>
              </a:ext>
            </a:extLst>
          </p:cNvPr>
          <p:cNvSpPr txBox="1"/>
          <p:nvPr/>
        </p:nvSpPr>
        <p:spPr>
          <a:xfrm>
            <a:off x="3749386" y="4925022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2: total delay experience by a flow F</a:t>
            </a:r>
            <a:r>
              <a:rPr lang="en-US" sz="1000" baseline="-25000" dirty="0"/>
              <a:t>i</a:t>
            </a:r>
            <a:r>
              <a:rPr lang="en-US" sz="1000" dirty="0"/>
              <a:t> at node 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8C7A35-5E3E-2896-65F3-B9DEC2A7F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801" y="3812626"/>
            <a:ext cx="5334000" cy="86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8C4B77-ED03-244C-4E2F-FE86AB8D8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963" y="3992486"/>
            <a:ext cx="3454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65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8053-E6C9-C295-B143-254CCE00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85B1-782C-5B98-D741-415AC70BE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Flow Response Time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7E9EA3-534E-EFDB-DE4E-FDBE64ABA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127F132-C3CB-0A09-6751-1664E04DD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71D0D-6F7B-2C9B-A025-BEB48D7F624C}"/>
              </a:ext>
            </a:extLst>
          </p:cNvPr>
          <p:cNvSpPr txBox="1"/>
          <p:nvPr/>
        </p:nvSpPr>
        <p:spPr>
          <a:xfrm>
            <a:off x="3760018" y="4744201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3: response time experienced by a control loop </a:t>
            </a:r>
            <a:r>
              <a:rPr lang="en-US" sz="1000" dirty="0" err="1"/>
              <a:t>DistributedHART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4CFA8-FC5E-68AD-0FF6-160DECAE7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43" y="3493928"/>
            <a:ext cx="3454092" cy="1124588"/>
          </a:xfrm>
          <a:prstGeom prst="rect">
            <a:avLst/>
          </a:prstGeom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9FF124F-1A48-08FF-8741-FA44AED6AEA2}"/>
              </a:ext>
            </a:extLst>
          </p:cNvPr>
          <p:cNvSpPr txBox="1">
            <a:spLocks/>
          </p:cNvSpPr>
          <p:nvPr/>
        </p:nvSpPr>
        <p:spPr>
          <a:xfrm>
            <a:off x="952500" y="1686757"/>
            <a:ext cx="10796479" cy="42568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Flow Probability: </a:t>
            </a:r>
            <a:r>
              <a:rPr lang="en-US" dirty="0"/>
              <a:t>P(F</a:t>
            </a:r>
            <a:r>
              <a:rPr lang="en-US" baseline="-25000" dirty="0"/>
              <a:t>i</a:t>
            </a:r>
            <a:r>
              <a:rPr lang="en-US" dirty="0"/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Flow Delay: </a:t>
            </a:r>
            <a:r>
              <a:rPr lang="el-GR" dirty="0" err="1"/>
              <a:t>δυ</a:t>
            </a:r>
            <a:br>
              <a:rPr lang="el-GR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1800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6512E-12D9-DDAA-2F98-43F1359A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ACD6-246C-A966-568E-6E901733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158" y="2913884"/>
            <a:ext cx="10281684" cy="896116"/>
          </a:xfrm>
        </p:spPr>
        <p:txBody>
          <a:bodyPr anchor="ctr">
            <a:noAutofit/>
          </a:bodyPr>
          <a:lstStyle/>
          <a:p>
            <a:r>
              <a:rPr lang="en-US" sz="6000" dirty="0"/>
              <a:t>Comparison to </a:t>
            </a:r>
            <a:r>
              <a:rPr lang="en-US" sz="6000" dirty="0" err="1"/>
              <a:t>WirelessHART</a:t>
            </a:r>
            <a:endParaRPr lang="en-US" sz="6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69BA304-AF2E-FBD4-435D-87B0C1555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AA9183-C153-D1D3-FA4D-F9111EA88A87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77974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A29C-B0C6-097E-8745-778CFF7C6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9102-E26C-ED08-E7B3-A5E0CC6D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Testbed Setup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E27E78-276E-CD62-7DA0-52A2CA5B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Setup</a:t>
            </a:r>
          </a:p>
          <a:p>
            <a:pPr marL="457200" lvl="1" indent="0">
              <a:buNone/>
            </a:pPr>
            <a:r>
              <a:rPr lang="en-US" sz="1600" b="1" dirty="0"/>
              <a:t>- Platform: </a:t>
            </a:r>
            <a:r>
              <a:rPr lang="en-US" sz="1600" dirty="0" err="1"/>
              <a:t>TinyOS</a:t>
            </a:r>
            <a:r>
              <a:rPr lang="en-US" sz="1600" dirty="0"/>
              <a:t> 2.2 running </a:t>
            </a:r>
            <a:r>
              <a:rPr lang="en-US" sz="1600" dirty="0" err="1"/>
              <a:t>TelosB</a:t>
            </a:r>
            <a:r>
              <a:rPr lang="en-US" sz="1600" dirty="0"/>
              <a:t> motes</a:t>
            </a:r>
          </a:p>
          <a:p>
            <a:pPr marL="457200" lvl="1" indent="0">
              <a:buNone/>
            </a:pPr>
            <a:r>
              <a:rPr lang="en-US" sz="1600" b="1" dirty="0"/>
              <a:t>- Network Size: </a:t>
            </a:r>
            <a:r>
              <a:rPr lang="en-US" sz="1600" dirty="0"/>
              <a:t>130 nodes</a:t>
            </a:r>
          </a:p>
          <a:p>
            <a:pPr marL="457200" lvl="1" indent="0">
              <a:buNone/>
            </a:pPr>
            <a:r>
              <a:rPr lang="en-US" sz="1600" b="1" dirty="0"/>
              <a:t>- Transmit Power: -</a:t>
            </a:r>
            <a:r>
              <a:rPr lang="en-US" sz="1600" dirty="0"/>
              <a:t>28.7 dBm </a:t>
            </a:r>
          </a:p>
          <a:p>
            <a:pPr marL="457200" lvl="1" indent="0">
              <a:buNone/>
            </a:pPr>
            <a:r>
              <a:rPr lang="en-US" sz="1600" b="1" dirty="0"/>
              <a:t>- Topology: </a:t>
            </a:r>
            <a:r>
              <a:rPr lang="en-US" sz="1600" dirty="0"/>
              <a:t>4-hop</a:t>
            </a:r>
          </a:p>
          <a:p>
            <a:pPr marL="457200" lvl="1" indent="0">
              <a:buNone/>
            </a:pPr>
            <a:r>
              <a:rPr lang="en-US" sz="1600" b="1" dirty="0"/>
              <a:t>- Routing Baseline: </a:t>
            </a:r>
            <a:r>
              <a:rPr lang="en-US" sz="1600" dirty="0"/>
              <a:t>Centralized graph routing</a:t>
            </a:r>
          </a:p>
          <a:p>
            <a:pPr marL="457200" lvl="1" indent="0">
              <a:buNone/>
            </a:pPr>
            <a:r>
              <a:rPr lang="en-US" sz="1600" b="1" dirty="0"/>
              <a:t>- Manager Role: </a:t>
            </a:r>
            <a:r>
              <a:rPr lang="en-US" sz="1600" dirty="0"/>
              <a:t>Computed initial channel and time-window allocations centrally</a:t>
            </a:r>
          </a:p>
          <a:p>
            <a:pPr marL="457200" lvl="1" indent="0">
              <a:buNone/>
            </a:pPr>
            <a:r>
              <a:rPr lang="en-US" sz="1600" b="1" dirty="0"/>
              <a:t>- Scheduling Policies: </a:t>
            </a:r>
            <a:r>
              <a:rPr lang="en-US" sz="1600" dirty="0"/>
              <a:t>EDF and DM (with spatial reuse)</a:t>
            </a:r>
          </a:p>
          <a:p>
            <a:pPr lvl="1"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Metrics</a:t>
            </a:r>
          </a:p>
          <a:p>
            <a:pPr marL="457200" lvl="1" indent="0">
              <a:buNone/>
            </a:pPr>
            <a:r>
              <a:rPr lang="en-US" sz="1600" b="1" dirty="0"/>
              <a:t>1. Energy: </a:t>
            </a:r>
            <a:r>
              <a:rPr lang="en-US" sz="1600" dirty="0"/>
              <a:t>energy consumed per node (J)</a:t>
            </a:r>
          </a:p>
          <a:p>
            <a:pPr marL="457200" lvl="1" indent="0">
              <a:buNone/>
            </a:pPr>
            <a:r>
              <a:rPr lang="en-US" sz="1600" b="1" dirty="0"/>
              <a:t>2. Memory: </a:t>
            </a:r>
            <a:r>
              <a:rPr lang="en-US" sz="1600" dirty="0"/>
              <a:t>memory consumed to store a schedule (KB)</a:t>
            </a:r>
          </a:p>
          <a:p>
            <a:pPr marL="457200" lvl="1" indent="0">
              <a:buNone/>
            </a:pPr>
            <a:r>
              <a:rPr lang="en-US" sz="1600" b="1" dirty="0"/>
              <a:t>3. Convergence Time: </a:t>
            </a:r>
            <a:r>
              <a:rPr lang="en-US" sz="1600" dirty="0"/>
              <a:t>average time taken for all nodes to obtain a schedule (s)</a:t>
            </a:r>
          </a:p>
          <a:p>
            <a:pPr marL="457200" lvl="1" indent="0">
              <a:buNone/>
            </a:pPr>
            <a:r>
              <a:rPr lang="en-US" sz="1600" b="1" dirty="0"/>
              <a:t>4. Schedulability Ratio: </a:t>
            </a:r>
            <a:r>
              <a:rPr lang="en-US" sz="1600" dirty="0"/>
              <a:t>fraction of test cases schedulable among all cases</a:t>
            </a:r>
            <a:endParaRPr lang="en-US" sz="16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48414FB-E9B5-D371-447E-8ABCC8153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21208956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3311-D6BF-77A4-FDDA-0029F73A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56E7-D2D3-25C8-36BC-C2CA13E9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Experiment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3B216C0-11DB-3966-8A99-DD7D67A76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97770-1ED5-CD30-0C3D-457E4A66B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292" y="1362198"/>
            <a:ext cx="3074582" cy="20668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541F64-0860-ADA6-CC88-FAA1DF202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806" y="1418863"/>
            <a:ext cx="3074581" cy="2066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E00D19-C776-9513-93A6-36BA5DDD6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293" y="3810000"/>
            <a:ext cx="3074581" cy="2066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7E9131-54A5-F51B-17FE-11446CFDD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3806" y="3810000"/>
            <a:ext cx="3074581" cy="2066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C08933-32B7-A84A-1993-3D2E5AA82609}"/>
              </a:ext>
            </a:extLst>
          </p:cNvPr>
          <p:cNvSpPr txBox="1"/>
          <p:nvPr/>
        </p:nvSpPr>
        <p:spPr>
          <a:xfrm>
            <a:off x="2362903" y="3429000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BEF20-35FA-A6E9-847E-DC371B71B645}"/>
              </a:ext>
            </a:extLst>
          </p:cNvPr>
          <p:cNvSpPr txBox="1"/>
          <p:nvPr/>
        </p:nvSpPr>
        <p:spPr>
          <a:xfrm>
            <a:off x="7783740" y="347128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C868B-084B-4DD2-78B1-592396F47D1B}"/>
              </a:ext>
            </a:extLst>
          </p:cNvPr>
          <p:cNvSpPr txBox="1"/>
          <p:nvPr/>
        </p:nvSpPr>
        <p:spPr>
          <a:xfrm>
            <a:off x="7904243" y="584618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41F9B-6754-67D4-7728-3C1E3D651655}"/>
              </a:ext>
            </a:extLst>
          </p:cNvPr>
          <p:cNvSpPr txBox="1"/>
          <p:nvPr/>
        </p:nvSpPr>
        <p:spPr>
          <a:xfrm>
            <a:off x="2412924" y="5870599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6c: Convergence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A42A9-F907-D851-651E-EF33B7ECD6D8}"/>
              </a:ext>
            </a:extLst>
          </p:cNvPr>
          <p:cNvSpPr txBox="1"/>
          <p:nvPr/>
        </p:nvSpPr>
        <p:spPr>
          <a:xfrm>
            <a:off x="5708399" y="608252"/>
            <a:ext cx="5316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6: Experimental result under varying number of flows considering harmonic periods</a:t>
            </a:r>
          </a:p>
        </p:txBody>
      </p:sp>
    </p:spTree>
    <p:extLst>
      <p:ext uri="{BB962C8B-B14F-4D97-AF65-F5344CB8AC3E}">
        <p14:creationId xmlns:p14="http://schemas.microsoft.com/office/powerpoint/2010/main" val="3188648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57A6-A57F-5516-D83D-51EB1E11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3415-5A10-78C8-823B-8917D496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Setup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0FC689-1C22-943B-5FE3-CE5D10677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Setup</a:t>
            </a:r>
          </a:p>
          <a:p>
            <a:pPr marL="457200" lvl="1" indent="0">
              <a:buNone/>
            </a:pPr>
            <a:r>
              <a:rPr lang="en-US" sz="1600" b="1" dirty="0"/>
              <a:t>- Simulator: </a:t>
            </a:r>
            <a:r>
              <a:rPr lang="en-US" sz="1600" dirty="0"/>
              <a:t>TOSSIM (</a:t>
            </a:r>
            <a:r>
              <a:rPr lang="en-US" sz="1600" dirty="0" err="1"/>
              <a:t>TinyOS</a:t>
            </a:r>
            <a:r>
              <a:rPr lang="en-US" sz="1600" dirty="0"/>
              <a:t> Simulator)</a:t>
            </a:r>
          </a:p>
          <a:p>
            <a:pPr marL="457200" lvl="1" indent="0">
              <a:buNone/>
            </a:pPr>
            <a:r>
              <a:rPr lang="en-US" sz="1600" b="1" dirty="0"/>
              <a:t>- Network Size: </a:t>
            </a:r>
            <a:r>
              <a:rPr lang="en-US" sz="1600" dirty="0"/>
              <a:t>148 nodes</a:t>
            </a:r>
          </a:p>
          <a:p>
            <a:pPr marL="457200" lvl="1" indent="0">
              <a:buNone/>
            </a:pPr>
            <a:r>
              <a:rPr lang="en-US" sz="1600" b="1" dirty="0"/>
              <a:t>- Transmit Power: -</a:t>
            </a:r>
            <a:r>
              <a:rPr lang="en-US" sz="1600" dirty="0"/>
              <a:t>28.7 dBm </a:t>
            </a:r>
          </a:p>
          <a:p>
            <a:pPr marL="457200" lvl="1" indent="0">
              <a:buNone/>
            </a:pPr>
            <a:r>
              <a:rPr lang="en-US" sz="1600" b="1" dirty="0"/>
              <a:t>- Fully-Distributed: </a:t>
            </a:r>
            <a:r>
              <a:rPr lang="en-US" sz="1600" dirty="0"/>
              <a:t>channel and time window allocated by nodes (both initially and operationally)</a:t>
            </a:r>
          </a:p>
          <a:p>
            <a:pPr lvl="1">
              <a:buFontTx/>
              <a:buChar char="-"/>
            </a:pPr>
            <a:r>
              <a:rPr lang="en-US" sz="1600" b="1" dirty="0"/>
              <a:t>Test-Cases: </a:t>
            </a:r>
          </a:p>
          <a:p>
            <a:pPr lvl="2">
              <a:buFontTx/>
              <a:buChar char="-"/>
            </a:pPr>
            <a:r>
              <a:rPr lang="en-US" sz="1200" dirty="0"/>
              <a:t>50 randomly selected sensor/actuators </a:t>
            </a:r>
          </a:p>
          <a:p>
            <a:pPr lvl="2">
              <a:buFontTx/>
              <a:buChar char="-"/>
            </a:pPr>
            <a:r>
              <a:rPr lang="en-US" sz="1200" dirty="0"/>
              <a:t>Sensor/Actuators assigned random harmonic periods in the range of 2</a:t>
            </a:r>
            <a:r>
              <a:rPr lang="en-US" sz="1200" baseline="30000" dirty="0"/>
              <a:t>11</a:t>
            </a:r>
            <a:r>
              <a:rPr lang="en-US" sz="1200" b="1" baseline="30000" dirty="0"/>
              <a:t>-</a:t>
            </a:r>
            <a:r>
              <a:rPr lang="en-US" sz="1200" baseline="30000" dirty="0"/>
              <a:t>13</a:t>
            </a:r>
            <a:r>
              <a:rPr lang="en-US" sz="1200" dirty="0"/>
              <a:t> time slots</a:t>
            </a:r>
          </a:p>
          <a:p>
            <a:pPr lvl="2">
              <a:buFontTx/>
              <a:buChar char="-"/>
            </a:pPr>
            <a:r>
              <a:rPr lang="en-US" sz="1200" dirty="0"/>
              <a:t>Every 10 flows, double the range</a:t>
            </a:r>
          </a:p>
          <a:p>
            <a:pPr marL="457200" lvl="1" indent="0">
              <a:buNone/>
            </a:pPr>
            <a:r>
              <a:rPr lang="en-US" sz="1600" dirty="0"/>
              <a:t>- </a:t>
            </a:r>
            <a:r>
              <a:rPr lang="en-US" sz="1600" b="1" dirty="0"/>
              <a:t>Scheduling Policies: </a:t>
            </a:r>
            <a:r>
              <a:rPr lang="en-US" sz="1600" dirty="0" err="1"/>
              <a:t>WirelessHART</a:t>
            </a:r>
            <a:r>
              <a:rPr lang="en-US" sz="1600" dirty="0"/>
              <a:t>/</a:t>
            </a:r>
            <a:r>
              <a:rPr lang="en-US" sz="1600" dirty="0" err="1"/>
              <a:t>DistributedHART</a:t>
            </a:r>
            <a:r>
              <a:rPr lang="en-US" sz="1600" dirty="0"/>
              <a:t> EDF and DM, Orchestra, </a:t>
            </a:r>
            <a:r>
              <a:rPr lang="en-US" sz="1600" dirty="0" err="1"/>
              <a:t>DiGS</a:t>
            </a:r>
            <a:r>
              <a:rPr lang="en-US" sz="1600" dirty="0"/>
              <a:t> (</a:t>
            </a:r>
            <a:endParaRPr lang="en-US" sz="1600" b="1" dirty="0"/>
          </a:p>
          <a:p>
            <a:pPr marL="0" indent="0">
              <a:buNone/>
            </a:pPr>
            <a:r>
              <a:rPr lang="en-US" sz="2000" b="1" dirty="0"/>
              <a:t>Metrics</a:t>
            </a:r>
          </a:p>
          <a:p>
            <a:pPr marL="457200" lvl="1" indent="0">
              <a:buNone/>
            </a:pPr>
            <a:r>
              <a:rPr lang="en-US" sz="1600" b="1" dirty="0"/>
              <a:t>1. Energy: </a:t>
            </a:r>
            <a:r>
              <a:rPr lang="en-US" sz="1600" dirty="0"/>
              <a:t>energy consumed per node (J)</a:t>
            </a:r>
          </a:p>
          <a:p>
            <a:pPr marL="457200" lvl="1" indent="0">
              <a:buNone/>
            </a:pPr>
            <a:r>
              <a:rPr lang="en-US" sz="1600" b="1" dirty="0"/>
              <a:t>2. Memory: </a:t>
            </a:r>
            <a:r>
              <a:rPr lang="en-US" sz="1600" dirty="0"/>
              <a:t>memory consumed to store a schedule </a:t>
            </a:r>
          </a:p>
          <a:p>
            <a:pPr marL="457200" lvl="1" indent="0">
              <a:buNone/>
            </a:pPr>
            <a:r>
              <a:rPr lang="en-US" sz="1600" b="1" dirty="0"/>
              <a:t>3. Convergence Time: </a:t>
            </a:r>
            <a:r>
              <a:rPr lang="en-US" sz="1600" dirty="0"/>
              <a:t>average time taken for all nodes to obtain a schedule </a:t>
            </a:r>
          </a:p>
          <a:p>
            <a:pPr marL="457200" lvl="1" indent="0">
              <a:buNone/>
            </a:pPr>
            <a:r>
              <a:rPr lang="en-US" sz="1600" b="1" dirty="0"/>
              <a:t>4. Schedulability Ratio: </a:t>
            </a:r>
            <a:r>
              <a:rPr lang="en-US" sz="1600" dirty="0"/>
              <a:t>fraction of test cases schedulable among all cases</a:t>
            </a:r>
            <a:endParaRPr lang="en-US" sz="16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4FA52BB-43CE-9192-F57D-70B0B386F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0066509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7A91-7CE7-0419-6B94-BEF98FCF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1D26-D974-C3C6-C9CC-9308CB11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26CFB6F-EC3F-73B9-8710-4BF3713AE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1D0D3-A331-9E2C-2988-5B478B89F8B9}"/>
              </a:ext>
            </a:extLst>
          </p:cNvPr>
          <p:cNvSpPr txBox="1"/>
          <p:nvPr/>
        </p:nvSpPr>
        <p:spPr>
          <a:xfrm>
            <a:off x="2519853" y="3418823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E01DB-5C26-6F85-8C08-633FCEC7D0FF}"/>
              </a:ext>
            </a:extLst>
          </p:cNvPr>
          <p:cNvSpPr txBox="1"/>
          <p:nvPr/>
        </p:nvSpPr>
        <p:spPr>
          <a:xfrm>
            <a:off x="7897605" y="355375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30DEF-834B-FE2A-11EA-D60078586659}"/>
              </a:ext>
            </a:extLst>
          </p:cNvPr>
          <p:cNvSpPr txBox="1"/>
          <p:nvPr/>
        </p:nvSpPr>
        <p:spPr>
          <a:xfrm>
            <a:off x="8116895" y="5946174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D6E2D-B18A-5EEC-437B-1DA94B5AA4A7}"/>
              </a:ext>
            </a:extLst>
          </p:cNvPr>
          <p:cNvSpPr txBox="1"/>
          <p:nvPr/>
        </p:nvSpPr>
        <p:spPr>
          <a:xfrm>
            <a:off x="2462947" y="5897467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7c: Convergence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F9F96-1509-2031-3147-F92439673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795" y="1376656"/>
            <a:ext cx="3073400" cy="207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177DC6-9C59-D1D1-1009-8C6F34392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670" y="1423702"/>
            <a:ext cx="3073400" cy="2070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ED7436-5F16-0BF5-6D14-1860449E3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795" y="3776085"/>
            <a:ext cx="3073400" cy="2070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8C60DD-00F4-CD4D-5F6F-2AA7BA298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670" y="3873500"/>
            <a:ext cx="3073400" cy="20701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783032-8AF8-AFE0-562F-AB1C93866B03}"/>
              </a:ext>
            </a:extLst>
          </p:cNvPr>
          <p:cNvSpPr txBox="1"/>
          <p:nvPr/>
        </p:nvSpPr>
        <p:spPr>
          <a:xfrm>
            <a:off x="5538278" y="614659"/>
            <a:ext cx="5316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7: Performance under varying number of control loops considering harmonic periods</a:t>
            </a:r>
          </a:p>
        </p:txBody>
      </p:sp>
    </p:spTree>
    <p:extLst>
      <p:ext uri="{BB962C8B-B14F-4D97-AF65-F5344CB8AC3E}">
        <p14:creationId xmlns:p14="http://schemas.microsoft.com/office/powerpoint/2010/main" val="26191225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DB12-EEAF-A327-C439-A2085DF4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2B6E-447C-572B-3506-11007026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BF22F5A-6184-8E88-E7F7-186893AAC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AB2233-9A9C-B5CE-1E22-94E8CD122B3C}"/>
              </a:ext>
            </a:extLst>
          </p:cNvPr>
          <p:cNvSpPr txBox="1"/>
          <p:nvPr/>
        </p:nvSpPr>
        <p:spPr>
          <a:xfrm>
            <a:off x="2519853" y="3418823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57D3D-2FF9-5792-4E15-814E2261C6BD}"/>
              </a:ext>
            </a:extLst>
          </p:cNvPr>
          <p:cNvSpPr txBox="1"/>
          <p:nvPr/>
        </p:nvSpPr>
        <p:spPr>
          <a:xfrm>
            <a:off x="7897605" y="355375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F2744E-1F95-F408-E46D-D900D4004EA1}"/>
              </a:ext>
            </a:extLst>
          </p:cNvPr>
          <p:cNvSpPr txBox="1"/>
          <p:nvPr/>
        </p:nvSpPr>
        <p:spPr>
          <a:xfrm>
            <a:off x="8116895" y="5946174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43222-659F-67EE-8E0D-A9409937B94A}"/>
              </a:ext>
            </a:extLst>
          </p:cNvPr>
          <p:cNvSpPr txBox="1"/>
          <p:nvPr/>
        </p:nvSpPr>
        <p:spPr>
          <a:xfrm>
            <a:off x="2462947" y="5897467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8c: Convergence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CCAC2-9346-5263-BB48-9EDA652B7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795" y="1376656"/>
            <a:ext cx="3073400" cy="207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8CA679-7BBD-4EA6-CE2E-E6BC14F9D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670" y="1423702"/>
            <a:ext cx="3073400" cy="2070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184265-33A6-FAF9-FD50-C8CE92CCA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795" y="3776085"/>
            <a:ext cx="3073400" cy="2070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9350C9-4B5A-27D8-53D2-7D7E1B970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670" y="3873500"/>
            <a:ext cx="3073400" cy="20701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9A8B8A-9F0A-20FF-4991-EEA0418E1922}"/>
              </a:ext>
            </a:extLst>
          </p:cNvPr>
          <p:cNvSpPr txBox="1"/>
          <p:nvPr/>
        </p:nvSpPr>
        <p:spPr>
          <a:xfrm>
            <a:off x="6431412" y="542494"/>
            <a:ext cx="5316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8: Performance under varying number of nodes</a:t>
            </a:r>
          </a:p>
        </p:txBody>
      </p:sp>
    </p:spTree>
    <p:extLst>
      <p:ext uri="{BB962C8B-B14F-4D97-AF65-F5344CB8AC3E}">
        <p14:creationId xmlns:p14="http://schemas.microsoft.com/office/powerpoint/2010/main" val="3967173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C19AC-B395-AF19-0BD0-3CA322E0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ECC8-65A1-964E-7A7F-B46C92EB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B89DFA3-6F4C-9763-4A66-935E352B7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84537-4248-644A-3FFC-BEE852752D07}"/>
              </a:ext>
            </a:extLst>
          </p:cNvPr>
          <p:cNvSpPr txBox="1"/>
          <p:nvPr/>
        </p:nvSpPr>
        <p:spPr>
          <a:xfrm>
            <a:off x="2750593" y="3372414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616DF-F5A2-F28D-AB79-D3860B8023F3}"/>
              </a:ext>
            </a:extLst>
          </p:cNvPr>
          <p:cNvSpPr txBox="1"/>
          <p:nvPr/>
        </p:nvSpPr>
        <p:spPr>
          <a:xfrm>
            <a:off x="8003029" y="349552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0254B-47B6-C239-7E4B-820FBA7ADB07}"/>
              </a:ext>
            </a:extLst>
          </p:cNvPr>
          <p:cNvSpPr txBox="1"/>
          <p:nvPr/>
        </p:nvSpPr>
        <p:spPr>
          <a:xfrm>
            <a:off x="8003029" y="5900041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12C19-B735-D7A6-0A11-09724EAA65CE}"/>
              </a:ext>
            </a:extLst>
          </p:cNvPr>
          <p:cNvSpPr txBox="1"/>
          <p:nvPr/>
        </p:nvSpPr>
        <p:spPr>
          <a:xfrm>
            <a:off x="2619897" y="5824494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7c: Convergence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BE48E-ACE3-919D-5B9F-A8996821D69F}"/>
              </a:ext>
            </a:extLst>
          </p:cNvPr>
          <p:cNvSpPr txBox="1"/>
          <p:nvPr/>
        </p:nvSpPr>
        <p:spPr>
          <a:xfrm>
            <a:off x="6492690" y="467283"/>
            <a:ext cx="5316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9: Performance under varying workload dynamic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CECEE-6CCE-5F4D-5902-1F4B7EBED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649" y="1348247"/>
            <a:ext cx="3073400" cy="2070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BEC545-07AF-5A04-480B-94325D042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696" y="1394412"/>
            <a:ext cx="3073400" cy="207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723687-A7A8-AA70-20E9-B3A3B8F83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5832" y="3741746"/>
            <a:ext cx="3073400" cy="2070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CC2F44-B11F-E2F9-85CC-9FA9F1D271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9696" y="3827367"/>
            <a:ext cx="30734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91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0624-54B9-F35C-F52A-6A9CDDB7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F4CD-3161-3101-7F12-0CCE6CBE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1848CCC-54F9-225C-D9C4-5CE933041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32D132-F8EF-1F57-A85E-BDBFAC1C5486}"/>
              </a:ext>
            </a:extLst>
          </p:cNvPr>
          <p:cNvSpPr txBox="1"/>
          <p:nvPr/>
        </p:nvSpPr>
        <p:spPr>
          <a:xfrm>
            <a:off x="7825563" y="4772571"/>
            <a:ext cx="2611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11: Latency comparison between Centralized-EDF and </a:t>
            </a:r>
            <a:r>
              <a:rPr lang="en-US" sz="1000" dirty="0" err="1"/>
              <a:t>DistributedHART</a:t>
            </a:r>
            <a:r>
              <a:rPr lang="en-US" sz="1000" dirty="0"/>
              <a:t>-EDF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3E0A3-3A47-8EE2-AC98-22B07FAFF32B}"/>
              </a:ext>
            </a:extLst>
          </p:cNvPr>
          <p:cNvSpPr txBox="1"/>
          <p:nvPr/>
        </p:nvSpPr>
        <p:spPr>
          <a:xfrm>
            <a:off x="2437119" y="4760491"/>
            <a:ext cx="26118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10: Latency under </a:t>
            </a:r>
            <a:r>
              <a:rPr lang="en-US" sz="1000" dirty="0" err="1"/>
              <a:t>DistributedHART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697A8-93D4-0FC5-0BE3-AFD7E138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86" y="1943450"/>
            <a:ext cx="3565449" cy="2715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5F4A65-9B85-5F4B-6927-A90AE191B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005" y="1980731"/>
            <a:ext cx="3665361" cy="27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87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8045-946D-A919-41B3-D9CA3045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4B36-B8E0-428E-ACB6-1D10C8463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271BA09-FE11-51AE-C564-3CFBEBFC1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0900FAB-D89C-F7C5-AD12-401D5C0DF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8" y="1686757"/>
            <a:ext cx="8574274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Compelling argument for decentralized scheduling</a:t>
            </a:r>
            <a:endParaRPr lang="en-US" sz="2400" dirty="0"/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More suitable </a:t>
            </a:r>
            <a:r>
              <a:rPr lang="en-US" sz="2000" dirty="0"/>
              <a:t>for Industry 4.0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Higher</a:t>
            </a:r>
            <a:r>
              <a:rPr lang="en-US" sz="2000" dirty="0"/>
              <a:t> network utilization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85% less </a:t>
            </a:r>
            <a:r>
              <a:rPr lang="en-US" sz="2000" dirty="0"/>
              <a:t>energy intensive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Highly</a:t>
            </a:r>
            <a:r>
              <a:rPr lang="en-US" sz="2000" dirty="0"/>
              <a:t> scalable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Improved</a:t>
            </a:r>
            <a:r>
              <a:rPr lang="en-US" sz="2000" dirty="0"/>
              <a:t> adaptability </a:t>
            </a:r>
          </a:p>
          <a:p>
            <a:pPr lvl="1"/>
            <a:r>
              <a:rPr lang="en-US" sz="2000" dirty="0"/>
              <a:t>Preserves reliability</a:t>
            </a:r>
          </a:p>
          <a:p>
            <a:pPr lvl="1"/>
            <a:r>
              <a:rPr lang="en-US" sz="2000" dirty="0">
                <a:solidFill>
                  <a:srgbClr val="BD472A"/>
                </a:solidFill>
              </a:rPr>
              <a:t>Questionable latency </a:t>
            </a:r>
            <a:r>
              <a:rPr lang="en-US" sz="2000" dirty="0"/>
              <a:t>but </a:t>
            </a:r>
            <a:r>
              <a:rPr lang="en-US" sz="2000" dirty="0">
                <a:solidFill>
                  <a:srgbClr val="00664F"/>
                </a:solidFill>
              </a:rPr>
              <a:t>improved long-term </a:t>
            </a:r>
            <a:r>
              <a:rPr lang="en-US" sz="2000" dirty="0"/>
              <a:t>Real-Time performance</a:t>
            </a:r>
          </a:p>
        </p:txBody>
      </p:sp>
    </p:spTree>
    <p:extLst>
      <p:ext uri="{BB962C8B-B14F-4D97-AF65-F5344CB8AC3E}">
        <p14:creationId xmlns:p14="http://schemas.microsoft.com/office/powerpoint/2010/main" val="9000747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BC1C-912A-BF40-96FC-B9FF38E497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485842"/>
            <a:ext cx="10515600" cy="896116"/>
          </a:xfrm>
        </p:spPr>
        <p:txBody>
          <a:bodyPr/>
          <a:lstStyle/>
          <a:p>
            <a:r>
              <a:rPr lang="en-US" dirty="0"/>
              <a:t>Closing Slide Header</a:t>
            </a:r>
          </a:p>
        </p:txBody>
      </p:sp>
    </p:spTree>
    <p:extLst>
      <p:ext uri="{BB962C8B-B14F-4D97-AF65-F5344CB8AC3E}">
        <p14:creationId xmlns:p14="http://schemas.microsoft.com/office/powerpoint/2010/main" val="14584888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413B-311A-8740-9FBA-19B5367E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E8446-B7CC-46E8-8169-A5E4E40DDEE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500" y="1687513"/>
            <a:ext cx="10977563" cy="4256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This presentation was part of the University of Iowa’s CS:4980:0007 Course</a:t>
            </a:r>
          </a:p>
          <a:p>
            <a:pPr marL="0" indent="0"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Presentation not affiliated with Wayne State University, Missouri University of Science and Technology, or the authors of “</a:t>
            </a:r>
            <a:r>
              <a:rPr lang="en-US" sz="1400" b="1" i="1" dirty="0" err="1">
                <a:solidFill>
                  <a:srgbClr val="FF0000"/>
                </a:solidFill>
              </a:rPr>
              <a:t>DistrbutedHART</a:t>
            </a:r>
            <a:r>
              <a:rPr lang="en-US" sz="1400" b="1" i="1" dirty="0">
                <a:solidFill>
                  <a:srgbClr val="FF0000"/>
                </a:solidFill>
              </a:rPr>
              <a:t>: A Distributed Real-Time Scheduling System for </a:t>
            </a:r>
            <a:r>
              <a:rPr lang="en-US" sz="1400" b="1" i="1" dirty="0" err="1">
                <a:solidFill>
                  <a:srgbClr val="FF0000"/>
                </a:solidFill>
              </a:rPr>
              <a:t>WirelessHART</a:t>
            </a:r>
            <a:r>
              <a:rPr lang="en-US" sz="1400" b="1" i="1" dirty="0">
                <a:solidFill>
                  <a:srgbClr val="FF0000"/>
                </a:solidFill>
              </a:rPr>
              <a:t> Networks”. </a:t>
            </a:r>
          </a:p>
          <a:p>
            <a:pPr>
              <a:buFontTx/>
              <a:buChar char="-"/>
            </a:pPr>
            <a:r>
              <a:rPr lang="en-US" sz="1400" dirty="0"/>
              <a:t>Paper: https://</a:t>
            </a:r>
            <a:r>
              <a:rPr lang="en-US" sz="1400" dirty="0" err="1"/>
              <a:t>ieeexplore.ieee.org</a:t>
            </a:r>
            <a:r>
              <a:rPr lang="en-US" sz="1400" dirty="0"/>
              <a:t>/document/8743267 </a:t>
            </a:r>
          </a:p>
          <a:p>
            <a:pPr>
              <a:buFontTx/>
              <a:buChar char="-"/>
            </a:pPr>
            <a:r>
              <a:rPr lang="en-US" sz="1400" dirty="0"/>
              <a:t>DOI: </a:t>
            </a:r>
            <a:r>
              <a:rPr lang="en-US" sz="1400" dirty="0">
                <a:hlinkClick r:id="rId2"/>
              </a:rPr>
              <a:t>10.1109/RTAS.2019.00026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Figures [1,2,3,4,5,6,7, 8, 9, 10, 11] </a:t>
            </a:r>
          </a:p>
          <a:p>
            <a:pPr>
              <a:buFontTx/>
              <a:buChar char="-"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Other Images:</a:t>
            </a:r>
          </a:p>
          <a:p>
            <a:pPr>
              <a:buFontTx/>
              <a:buChar char="-"/>
            </a:pPr>
            <a:r>
              <a:rPr lang="en-US" sz="1400" dirty="0"/>
              <a:t>Industry 4.0 graph: </a:t>
            </a:r>
            <a:r>
              <a:rPr lang="en-US" sz="1400" dirty="0">
                <a:hlinkClick r:id="rId3"/>
              </a:rPr>
              <a:t>https://www.texspacetoday.com/step-towards-sustainability-from-industry-4-0-to-industry-5-0/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 err="1"/>
              <a:t>WirelessHART</a:t>
            </a:r>
            <a:r>
              <a:rPr lang="en-US" sz="1400" dirty="0"/>
              <a:t>: https://</a:t>
            </a:r>
            <a:r>
              <a:rPr lang="en-US" sz="1400" dirty="0" err="1"/>
              <a:t>www.emerson.com</a:t>
            </a:r>
            <a:r>
              <a:rPr lang="en-US" sz="1400" dirty="0"/>
              <a:t>/</a:t>
            </a:r>
            <a:r>
              <a:rPr lang="en-US" sz="1400" dirty="0" err="1"/>
              <a:t>en</a:t>
            </a:r>
            <a:r>
              <a:rPr lang="en-US" sz="1400" dirty="0"/>
              <a:t>-us/automation/measurement-instrumentation/industrial-wireless-technology/wireless-gateways</a:t>
            </a:r>
          </a:p>
          <a:p>
            <a:pPr>
              <a:buFontTx/>
              <a:buChar char="-"/>
            </a:pPr>
            <a:endParaRPr lang="en-US" sz="1400" dirty="0"/>
          </a:p>
          <a:p>
            <a:endParaRPr lang="en-US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83B1-EBDF-4455-9429-52359C17D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5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OWA BRAND COLO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558C"/>
      </a:hlink>
      <a:folHlink>
        <a:srgbClr val="636669"/>
      </a:folHlink>
    </a:clrScheme>
    <a:fontScheme name="University of Iowa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9CCDD9754E9B40B13882595ECD5F7A" ma:contentTypeVersion="0" ma:contentTypeDescription="Create a new document." ma:contentTypeScope="" ma:versionID="48ffdc5cb6ca8bf97cbe1bd0206e10b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4B8143-C3D6-460D-830C-A8DBEE855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7FFD54-27B0-415C-8654-D843242BD071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421B56A-5C82-479A-80D0-662CC28B93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5119</TotalTime>
  <Words>3962</Words>
  <Application>Microsoft Macintosh PowerPoint</Application>
  <PresentationFormat>Widescreen</PresentationFormat>
  <Paragraphs>575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Roboto</vt:lpstr>
      <vt:lpstr>Roboto Black</vt:lpstr>
      <vt:lpstr>Wingdings</vt:lpstr>
      <vt:lpstr>Office Theme</vt:lpstr>
      <vt:lpstr>DistributedHART: A Distributed Real-Time Scheduling System for WirelessHART Networks</vt:lpstr>
      <vt:lpstr>Introduction</vt:lpstr>
      <vt:lpstr>Background</vt:lpstr>
      <vt:lpstr>Industry 4.0</vt:lpstr>
      <vt:lpstr>Industry 4.0</vt:lpstr>
      <vt:lpstr>Motivation of DistributedHART</vt:lpstr>
      <vt:lpstr>Limitation 1: High Level of Redundancy</vt:lpstr>
      <vt:lpstr>Limitation 2: Global Dissemination</vt:lpstr>
      <vt:lpstr>Proposed Architecture</vt:lpstr>
      <vt:lpstr>Outcomes of Paper</vt:lpstr>
      <vt:lpstr>DistributedHART Design</vt:lpstr>
      <vt:lpstr>Design of DistributedHART</vt:lpstr>
      <vt:lpstr>Channel Allocation</vt:lpstr>
      <vt:lpstr>Time Window Allocation </vt:lpstr>
      <vt:lpstr>Epoch</vt:lpstr>
      <vt:lpstr>Scheduling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Slot Sharing</vt:lpstr>
      <vt:lpstr>Slot Sharing Re-Transmission Example</vt:lpstr>
      <vt:lpstr>Hidden Terminals</vt:lpstr>
      <vt:lpstr>Capture Effect</vt:lpstr>
      <vt:lpstr>Capture Effect Experiment</vt:lpstr>
      <vt:lpstr>Capture Effect Experiment</vt:lpstr>
      <vt:lpstr>DistributedHART Analysis</vt:lpstr>
      <vt:lpstr>Flow P(Success)</vt:lpstr>
      <vt:lpstr>Flow Delay</vt:lpstr>
      <vt:lpstr>Flow Response Time</vt:lpstr>
      <vt:lpstr>Comparison to WirelessHART</vt:lpstr>
      <vt:lpstr>Testbed Setup</vt:lpstr>
      <vt:lpstr>Experiment Results</vt:lpstr>
      <vt:lpstr>Simulation Setup</vt:lpstr>
      <vt:lpstr>Simulation Results</vt:lpstr>
      <vt:lpstr>Simulation Results</vt:lpstr>
      <vt:lpstr>Simulation Results</vt:lpstr>
      <vt:lpstr>Simulation Results</vt:lpstr>
      <vt:lpstr>Conclusion</vt:lpstr>
      <vt:lpstr>Closing Slide Header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ryan-potter@uiowa.edu</dc:creator>
  <cp:lastModifiedBy>Matt Krueger</cp:lastModifiedBy>
  <cp:revision>277</cp:revision>
  <cp:lastPrinted>2025-10-15T03:32:39Z</cp:lastPrinted>
  <dcterms:created xsi:type="dcterms:W3CDTF">2020-01-21T18:13:39Z</dcterms:created>
  <dcterms:modified xsi:type="dcterms:W3CDTF">2025-10-15T05:57:07Z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0x010100579CCDD9754E9B40B13882595ECD5F7A</vt:lpwstr>
  </property>
</Properties>
</file>